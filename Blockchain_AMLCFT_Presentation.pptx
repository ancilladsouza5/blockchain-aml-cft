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676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Text 1"/>
          <p:cNvSpPr/>
          <p:nvPr/>
        </p:nvSpPr>
        <p:spPr>
          <a:xfrm>
            <a:off x="457200" y="640080"/>
            <a:ext cx="8229600" cy="274320"/>
          </a:xfrm>
          <a:prstGeom prst="rect">
            <a:avLst/>
          </a:prstGeom>
          <a:noFill/>
          <a:ln/>
        </p:spPr>
        <p:txBody>
          <a:bodyPr wrap="square" rtlCol="0" anchor="ctr"/>
          <a:lstStyle/>
          <a:p>
            <a:pPr marL="0" indent="0" algn="ctr">
              <a:buNone/>
            </a:pPr>
            <a:r>
              <a:rPr lang="en-US" sz="900" b="1" kern="0" spc="300" dirty="0">
                <a:solidFill>
                  <a:srgbClr val="7DD3FC"/>
                </a:solidFill>
              </a:rPr>
              <a:t>ENTERPRISE TECH SOLUTION BRIEFING</a:t>
            </a:r>
            <a:endParaRPr lang="en-US" sz="900" dirty="0"/>
          </a:p>
        </p:txBody>
      </p:sp>
      <p:sp>
        <p:nvSpPr>
          <p:cNvPr id="4" name="Text 2"/>
          <p:cNvSpPr/>
          <p:nvPr/>
        </p:nvSpPr>
        <p:spPr>
          <a:xfrm>
            <a:off x="457200" y="1005840"/>
            <a:ext cx="8229600" cy="1645920"/>
          </a:xfrm>
          <a:prstGeom prst="rect">
            <a:avLst/>
          </a:prstGeom>
          <a:noFill/>
          <a:ln/>
        </p:spPr>
        <p:txBody>
          <a:bodyPr wrap="square" rtlCol="0" anchor="ctr"/>
          <a:lstStyle/>
          <a:p>
            <a:pPr marL="0" indent="0" algn="ctr">
              <a:buNone/>
            </a:pPr>
            <a:r>
              <a:rPr lang="en-US" sz="3200" b="1" dirty="0">
                <a:solidFill>
                  <a:srgbClr val="FFFFFF"/>
                </a:solidFill>
              </a:rPr>
              <a:t>Blockchain-Based AML/CFT Monitoring</a:t>
            </a:r>
            <a:endParaRPr lang="en-US" sz="3200" dirty="0"/>
          </a:p>
          <a:p>
            <a:pPr marL="0" indent="0" algn="ctr">
              <a:buNone/>
            </a:pPr>
            <a:r>
              <a:rPr lang="en-US" sz="3200" b="1" dirty="0">
                <a:solidFill>
                  <a:srgbClr val="FFFFFF"/>
                </a:solidFill>
              </a:rPr>
              <a:t>&amp; Financial Crime Detection System</a:t>
            </a:r>
            <a:endParaRPr lang="en-US" sz="3200" dirty="0"/>
          </a:p>
        </p:txBody>
      </p:sp>
      <p:sp>
        <p:nvSpPr>
          <p:cNvPr id="5" name="Shape 3"/>
          <p:cNvSpPr/>
          <p:nvPr/>
        </p:nvSpPr>
        <p:spPr>
          <a:xfrm>
            <a:off x="3200400" y="2697480"/>
            <a:ext cx="2743200" cy="54864"/>
          </a:xfrm>
          <a:prstGeom prst="rect">
            <a:avLst/>
          </a:prstGeom>
          <a:solidFill>
            <a:srgbClr val="2563EB"/>
          </a:solidFill>
          <a:ln/>
        </p:spPr>
      </p:sp>
      <p:sp>
        <p:nvSpPr>
          <p:cNvPr id="6" name="Text 4"/>
          <p:cNvSpPr/>
          <p:nvPr/>
        </p:nvSpPr>
        <p:spPr>
          <a:xfrm>
            <a:off x="457200" y="2880360"/>
            <a:ext cx="8229600" cy="640080"/>
          </a:xfrm>
          <a:prstGeom prst="rect">
            <a:avLst/>
          </a:prstGeom>
          <a:noFill/>
          <a:ln/>
        </p:spPr>
        <p:txBody>
          <a:bodyPr wrap="square" rtlCol="0" anchor="ctr"/>
          <a:lstStyle/>
          <a:p>
            <a:pPr marL="0" indent="0" algn="ctr">
              <a:buNone/>
            </a:pPr>
            <a:r>
              <a:rPr lang="en-US" sz="1100" dirty="0">
                <a:solidFill>
                  <a:srgbClr val="94A3B8"/>
                </a:solidFill>
              </a:rPr>
              <a:t>A decentralized, real-time approach to cross-border financial surveillance,</a:t>
            </a:r>
            <a:endParaRPr lang="en-US" sz="1100" dirty="0"/>
          </a:p>
          <a:p>
            <a:pPr marL="0" indent="0" algn="ctr">
              <a:buNone/>
            </a:pPr>
            <a:r>
              <a:rPr lang="en-US" sz="1100" dirty="0">
                <a:solidFill>
                  <a:srgbClr val="94A3B8"/>
                </a:solidFill>
              </a:rPr>
              <a:t>fusing permissioned ledgers, smart contracts, and deep graph behavioral learning</a:t>
            </a:r>
            <a:r>
              <a:rPr lang="en-US" sz="1100" dirty="0" smtClean="0">
                <a:solidFill>
                  <a:srgbClr val="94A3B8"/>
                </a:solidFill>
              </a:rPr>
              <a:t>.</a:t>
            </a:r>
          </a:p>
          <a:p>
            <a:pPr marL="0" indent="0" algn="ctr">
              <a:buNone/>
            </a:pPr>
            <a:endParaRPr lang="en-US" sz="1100" dirty="0" smtClean="0">
              <a:solidFill>
                <a:schemeClr val="bg1"/>
              </a:solidFill>
            </a:endParaRPr>
          </a:p>
          <a:p>
            <a:pPr marL="0" indent="0" algn="ctr">
              <a:buNone/>
            </a:pPr>
            <a:r>
              <a:rPr lang="en-US" sz="1100" dirty="0" smtClean="0">
                <a:solidFill>
                  <a:schemeClr val="bg1"/>
                </a:solidFill>
              </a:rPr>
              <a:t>Prepared By: </a:t>
            </a:r>
            <a:r>
              <a:rPr lang="en-US" sz="1100" dirty="0" err="1" smtClean="0">
                <a:solidFill>
                  <a:schemeClr val="bg1"/>
                </a:solidFill>
              </a:rPr>
              <a:t>Ancilla</a:t>
            </a:r>
            <a:r>
              <a:rPr lang="en-US" sz="1100" dirty="0" smtClean="0">
                <a:solidFill>
                  <a:schemeClr val="bg1"/>
                </a:solidFill>
              </a:rPr>
              <a:t> Dsouza</a:t>
            </a:r>
            <a:endParaRPr lang="en-US" sz="1100" dirty="0">
              <a:solidFill>
                <a:schemeClr val="bg1"/>
              </a:solidFill>
            </a:endParaRPr>
          </a:p>
        </p:txBody>
      </p:sp>
      <p:sp>
        <p:nvSpPr>
          <p:cNvPr id="7" name="Shape 5"/>
          <p:cNvSpPr/>
          <p:nvPr/>
        </p:nvSpPr>
        <p:spPr>
          <a:xfrm>
            <a:off x="457200" y="3611880"/>
            <a:ext cx="2697480" cy="1280160"/>
          </a:xfrm>
          <a:prstGeom prst="rect">
            <a:avLst/>
          </a:prstGeom>
          <a:solidFill>
            <a:srgbClr val="182140"/>
          </a:solidFill>
          <a:ln w="19050">
            <a:solidFill>
              <a:srgbClr val="2563EB"/>
            </a:solidFill>
            <a:prstDash val="solid"/>
          </a:ln>
        </p:spPr>
      </p:sp>
      <p:sp>
        <p:nvSpPr>
          <p:cNvPr id="8" name="Text 6"/>
          <p:cNvSpPr/>
          <p:nvPr/>
        </p:nvSpPr>
        <p:spPr>
          <a:xfrm>
            <a:off x="594360" y="3703320"/>
            <a:ext cx="2423160" cy="228600"/>
          </a:xfrm>
          <a:prstGeom prst="rect">
            <a:avLst/>
          </a:prstGeom>
          <a:noFill/>
          <a:ln/>
        </p:spPr>
        <p:txBody>
          <a:bodyPr wrap="square" rtlCol="0" anchor="ctr"/>
          <a:lstStyle/>
          <a:p>
            <a:pPr marL="0" indent="0">
              <a:buNone/>
            </a:pPr>
            <a:r>
              <a:rPr lang="en-US" sz="800" b="1" kern="0" spc="100" dirty="0">
                <a:solidFill>
                  <a:srgbClr val="2563EB"/>
                </a:solidFill>
              </a:rPr>
              <a:t>UNIFIED LEDGER STATE</a:t>
            </a:r>
            <a:endParaRPr lang="en-US" sz="800" dirty="0"/>
          </a:p>
        </p:txBody>
      </p:sp>
      <p:sp>
        <p:nvSpPr>
          <p:cNvPr id="9" name="Text 7"/>
          <p:cNvSpPr/>
          <p:nvPr/>
        </p:nvSpPr>
        <p:spPr>
          <a:xfrm>
            <a:off x="594360" y="3977640"/>
            <a:ext cx="2423160" cy="731520"/>
          </a:xfrm>
          <a:prstGeom prst="rect">
            <a:avLst/>
          </a:prstGeom>
          <a:noFill/>
          <a:ln/>
        </p:spPr>
        <p:txBody>
          <a:bodyPr wrap="square" rtlCol="0" anchor="ctr"/>
          <a:lstStyle/>
          <a:p>
            <a:pPr marL="0" indent="0">
              <a:buNone/>
            </a:pPr>
            <a:r>
              <a:rPr lang="en-US" sz="900" dirty="0">
                <a:solidFill>
                  <a:srgbClr val="94A3B8"/>
                </a:solidFill>
              </a:rPr>
              <a:t>Cross-border permissioned consensus</a:t>
            </a:r>
            <a:endParaRPr lang="en-US" sz="900" dirty="0"/>
          </a:p>
          <a:p>
            <a:pPr marL="0" indent="0">
              <a:buNone/>
            </a:pPr>
            <a:r>
              <a:rPr lang="en-US" sz="900" dirty="0">
                <a:solidFill>
                  <a:srgbClr val="94A3B8"/>
                </a:solidFill>
              </a:rPr>
              <a:t>replacing isolated database silos.</a:t>
            </a:r>
            <a:endParaRPr lang="en-US" sz="900" dirty="0"/>
          </a:p>
        </p:txBody>
      </p:sp>
      <p:sp>
        <p:nvSpPr>
          <p:cNvPr id="10" name="Shape 8"/>
          <p:cNvSpPr/>
          <p:nvPr/>
        </p:nvSpPr>
        <p:spPr>
          <a:xfrm>
            <a:off x="3337560" y="3611880"/>
            <a:ext cx="2697480" cy="1280160"/>
          </a:xfrm>
          <a:prstGeom prst="rect">
            <a:avLst/>
          </a:prstGeom>
          <a:solidFill>
            <a:srgbClr val="182140"/>
          </a:solidFill>
          <a:ln w="19050">
            <a:solidFill>
              <a:srgbClr val="06B6D4"/>
            </a:solidFill>
            <a:prstDash val="solid"/>
          </a:ln>
        </p:spPr>
      </p:sp>
      <p:sp>
        <p:nvSpPr>
          <p:cNvPr id="11" name="Text 9"/>
          <p:cNvSpPr/>
          <p:nvPr/>
        </p:nvSpPr>
        <p:spPr>
          <a:xfrm>
            <a:off x="3474720" y="3703320"/>
            <a:ext cx="2423160" cy="228600"/>
          </a:xfrm>
          <a:prstGeom prst="rect">
            <a:avLst/>
          </a:prstGeom>
          <a:noFill/>
          <a:ln/>
        </p:spPr>
        <p:txBody>
          <a:bodyPr wrap="square" rtlCol="0" anchor="ctr"/>
          <a:lstStyle/>
          <a:p>
            <a:pPr marL="0" indent="0">
              <a:buNone/>
            </a:pPr>
            <a:r>
              <a:rPr lang="en-US" sz="800" b="1" kern="0" spc="100" dirty="0">
                <a:solidFill>
                  <a:srgbClr val="06B6D4"/>
                </a:solidFill>
              </a:rPr>
              <a:t>AUTOMATION ENGINES</a:t>
            </a:r>
            <a:endParaRPr lang="en-US" sz="800" dirty="0"/>
          </a:p>
        </p:txBody>
      </p:sp>
      <p:sp>
        <p:nvSpPr>
          <p:cNvPr id="12" name="Text 10"/>
          <p:cNvSpPr/>
          <p:nvPr/>
        </p:nvSpPr>
        <p:spPr>
          <a:xfrm>
            <a:off x="3474720" y="3977640"/>
            <a:ext cx="2423160" cy="731520"/>
          </a:xfrm>
          <a:prstGeom prst="rect">
            <a:avLst/>
          </a:prstGeom>
          <a:noFill/>
          <a:ln/>
        </p:spPr>
        <p:txBody>
          <a:bodyPr wrap="square" rtlCol="0" anchor="ctr"/>
          <a:lstStyle/>
          <a:p>
            <a:pPr marL="0" indent="0">
              <a:buNone/>
            </a:pPr>
            <a:r>
              <a:rPr lang="en-US" sz="900" dirty="0">
                <a:solidFill>
                  <a:srgbClr val="94A3B8"/>
                </a:solidFill>
              </a:rPr>
              <a:t>Dynamic smart contracts executing</a:t>
            </a:r>
            <a:endParaRPr lang="en-US" sz="900" dirty="0"/>
          </a:p>
          <a:p>
            <a:pPr marL="0" indent="0">
              <a:buNone/>
            </a:pPr>
            <a:r>
              <a:rPr lang="en-US" sz="900" dirty="0">
                <a:solidFill>
                  <a:srgbClr val="94A3B8"/>
                </a:solidFill>
              </a:rPr>
              <a:t>compliance thresholds on-chain.</a:t>
            </a:r>
            <a:endParaRPr lang="en-US" sz="900" dirty="0"/>
          </a:p>
        </p:txBody>
      </p:sp>
      <p:sp>
        <p:nvSpPr>
          <p:cNvPr id="13" name="Shape 11"/>
          <p:cNvSpPr/>
          <p:nvPr/>
        </p:nvSpPr>
        <p:spPr>
          <a:xfrm>
            <a:off x="6217920" y="3611880"/>
            <a:ext cx="2697480" cy="1280160"/>
          </a:xfrm>
          <a:prstGeom prst="rect">
            <a:avLst/>
          </a:prstGeom>
          <a:solidFill>
            <a:srgbClr val="182140"/>
          </a:solidFill>
          <a:ln w="19050">
            <a:solidFill>
              <a:srgbClr val="10B981"/>
            </a:solidFill>
            <a:prstDash val="solid"/>
          </a:ln>
        </p:spPr>
      </p:sp>
      <p:sp>
        <p:nvSpPr>
          <p:cNvPr id="14" name="Text 12"/>
          <p:cNvSpPr/>
          <p:nvPr/>
        </p:nvSpPr>
        <p:spPr>
          <a:xfrm>
            <a:off x="6355080" y="3703320"/>
            <a:ext cx="2423160" cy="228600"/>
          </a:xfrm>
          <a:prstGeom prst="rect">
            <a:avLst/>
          </a:prstGeom>
          <a:noFill/>
          <a:ln/>
        </p:spPr>
        <p:txBody>
          <a:bodyPr wrap="square" rtlCol="0" anchor="ctr"/>
          <a:lstStyle/>
          <a:p>
            <a:pPr marL="0" indent="0">
              <a:buNone/>
            </a:pPr>
            <a:r>
              <a:rPr lang="en-US" sz="800" b="1" kern="0" spc="100" dirty="0">
                <a:solidFill>
                  <a:srgbClr val="10B981"/>
                </a:solidFill>
              </a:rPr>
              <a:t>DEEP NEURAL LAYERS</a:t>
            </a:r>
            <a:endParaRPr lang="en-US" sz="800" dirty="0"/>
          </a:p>
        </p:txBody>
      </p:sp>
      <p:sp>
        <p:nvSpPr>
          <p:cNvPr id="15" name="Text 13"/>
          <p:cNvSpPr/>
          <p:nvPr/>
        </p:nvSpPr>
        <p:spPr>
          <a:xfrm>
            <a:off x="6355080" y="3977640"/>
            <a:ext cx="2423160" cy="731520"/>
          </a:xfrm>
          <a:prstGeom prst="rect">
            <a:avLst/>
          </a:prstGeom>
          <a:noFill/>
          <a:ln/>
        </p:spPr>
        <p:txBody>
          <a:bodyPr wrap="square" rtlCol="0" anchor="ctr"/>
          <a:lstStyle/>
          <a:p>
            <a:pPr marL="0" indent="0">
              <a:buNone/>
            </a:pPr>
            <a:r>
              <a:rPr lang="en-US" sz="900" dirty="0">
                <a:solidFill>
                  <a:srgbClr val="94A3B8"/>
                </a:solidFill>
              </a:rPr>
              <a:t>GNN graph learning structures</a:t>
            </a:r>
            <a:endParaRPr lang="en-US" sz="900" dirty="0"/>
          </a:p>
          <a:p>
            <a:pPr marL="0" indent="0">
              <a:buNone/>
            </a:pPr>
            <a:r>
              <a:rPr lang="en-US" sz="900" dirty="0">
                <a:solidFill>
                  <a:srgbClr val="94A3B8"/>
                </a:solidFill>
              </a:rPr>
              <a:t>identifying hidden multi-hop shell loops.</a:t>
            </a:r>
            <a:endParaRPr lang="en-US" sz="900" dirty="0"/>
          </a:p>
        </p:txBody>
      </p:sp>
      <p:sp>
        <p:nvSpPr>
          <p:cNvPr id="16" name="Text 14"/>
          <p:cNvSpPr/>
          <p:nvPr/>
        </p:nvSpPr>
        <p:spPr>
          <a:xfrm>
            <a:off x="7772400" y="4937760"/>
            <a:ext cx="1188720" cy="182880"/>
          </a:xfrm>
          <a:prstGeom prst="rect">
            <a:avLst/>
          </a:prstGeom>
          <a:noFill/>
          <a:ln/>
        </p:spPr>
        <p:txBody>
          <a:bodyPr wrap="square" rtlCol="0" anchor="ctr"/>
          <a:lstStyle/>
          <a:p>
            <a:pPr marL="0" indent="0" algn="r">
              <a:buNone/>
            </a:pPr>
            <a:r>
              <a:rPr lang="en-US" sz="700" dirty="0">
                <a:solidFill>
                  <a:srgbClr val="475569"/>
                </a:solidFill>
              </a:rPr>
              <a:t>Slide 1 of 16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C2626"/>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DC2626"/>
                </a:solidFill>
              </a:rPr>
              <a:t>THE THREAT</a:t>
            </a:r>
            <a:endParaRPr lang="en-US" sz="800" dirty="0"/>
          </a:p>
        </p:txBody>
      </p:sp>
      <p:sp>
        <p:nvSpPr>
          <p:cNvPr id="4" name="Text 2"/>
          <p:cNvSpPr/>
          <p:nvPr/>
        </p:nvSpPr>
        <p:spPr>
          <a:xfrm>
            <a:off x="228600" y="411480"/>
            <a:ext cx="8686800" cy="640080"/>
          </a:xfrm>
          <a:prstGeom prst="rect">
            <a:avLst/>
          </a:prstGeom>
          <a:noFill/>
          <a:ln/>
        </p:spPr>
        <p:txBody>
          <a:bodyPr wrap="square" rtlCol="0" anchor="ctr"/>
          <a:lstStyle/>
          <a:p>
            <a:pPr marL="0" indent="0">
              <a:buNone/>
            </a:pPr>
            <a:r>
              <a:rPr lang="en-US" sz="2200" b="1" dirty="0">
                <a:solidFill>
                  <a:srgbClr val="1E293B"/>
                </a:solidFill>
              </a:rPr>
              <a:t>Global Problem: Real-Time Cross-Border Detection Failure</a:t>
            </a:r>
            <a:endParaRPr lang="en-US" sz="2200" dirty="0"/>
          </a:p>
        </p:txBody>
      </p:sp>
      <p:sp>
        <p:nvSpPr>
          <p:cNvPr id="5" name="Shape 3"/>
          <p:cNvSpPr/>
          <p:nvPr/>
        </p:nvSpPr>
        <p:spPr>
          <a:xfrm>
            <a:off x="228600" y="1188720"/>
            <a:ext cx="4251960" cy="1554480"/>
          </a:xfrm>
          <a:prstGeom prst="rect">
            <a:avLst/>
          </a:prstGeom>
          <a:solidFill>
            <a:srgbClr val="FFF1F2"/>
          </a:solidFill>
          <a:ln w="12700">
            <a:solidFill>
              <a:srgbClr val="FECACA"/>
            </a:solidFill>
            <a:prstDash val="solid"/>
          </a:ln>
        </p:spPr>
      </p:sp>
      <p:sp>
        <p:nvSpPr>
          <p:cNvPr id="6" name="Text 4"/>
          <p:cNvSpPr/>
          <p:nvPr/>
        </p:nvSpPr>
        <p:spPr>
          <a:xfrm>
            <a:off x="411480" y="1325880"/>
            <a:ext cx="3886200" cy="256032"/>
          </a:xfrm>
          <a:prstGeom prst="rect">
            <a:avLst/>
          </a:prstGeom>
          <a:noFill/>
          <a:ln/>
        </p:spPr>
        <p:txBody>
          <a:bodyPr wrap="square" rtlCol="0" anchor="ctr"/>
          <a:lstStyle/>
          <a:p>
            <a:pPr marL="0" indent="0">
              <a:buNone/>
            </a:pPr>
            <a:r>
              <a:rPr lang="en-US" sz="1100" b="1" dirty="0">
                <a:solidFill>
                  <a:srgbClr val="1E293B"/>
                </a:solidFill>
              </a:rPr>
              <a:t>Suspicious Transaction Velocity</a:t>
            </a:r>
            <a:endParaRPr lang="en-US" sz="1100" dirty="0"/>
          </a:p>
        </p:txBody>
      </p:sp>
      <p:sp>
        <p:nvSpPr>
          <p:cNvPr id="7" name="Text 5"/>
          <p:cNvSpPr/>
          <p:nvPr/>
        </p:nvSpPr>
        <p:spPr>
          <a:xfrm>
            <a:off x="411480" y="1600200"/>
            <a:ext cx="3886200" cy="1005840"/>
          </a:xfrm>
          <a:prstGeom prst="rect">
            <a:avLst/>
          </a:prstGeom>
          <a:noFill/>
          <a:ln/>
        </p:spPr>
        <p:txBody>
          <a:bodyPr wrap="square" rtlCol="0" anchor="ctr"/>
          <a:lstStyle/>
          <a:p>
            <a:pPr marL="0" indent="0">
              <a:buNone/>
            </a:pPr>
            <a:r>
              <a:rPr lang="en-US" sz="950" dirty="0">
                <a:solidFill>
                  <a:srgbClr val="64748B"/>
                </a:solidFill>
              </a:rPr>
              <a:t>Billions of dollars in suspicious transactions move daily across international banking networks (SWIFT, correspondent banking systems).</a:t>
            </a:r>
            <a:endParaRPr lang="en-US" sz="950" dirty="0"/>
          </a:p>
        </p:txBody>
      </p:sp>
      <p:sp>
        <p:nvSpPr>
          <p:cNvPr id="8" name="Shape 6"/>
          <p:cNvSpPr/>
          <p:nvPr/>
        </p:nvSpPr>
        <p:spPr>
          <a:xfrm>
            <a:off x="4709160" y="1188720"/>
            <a:ext cx="4251960" cy="1554480"/>
          </a:xfrm>
          <a:prstGeom prst="rect">
            <a:avLst/>
          </a:prstGeom>
          <a:solidFill>
            <a:srgbClr val="FFF1F2"/>
          </a:solidFill>
          <a:ln w="12700">
            <a:solidFill>
              <a:srgbClr val="FECACA"/>
            </a:solidFill>
            <a:prstDash val="solid"/>
          </a:ln>
        </p:spPr>
      </p:sp>
      <p:sp>
        <p:nvSpPr>
          <p:cNvPr id="9" name="Text 7"/>
          <p:cNvSpPr/>
          <p:nvPr/>
        </p:nvSpPr>
        <p:spPr>
          <a:xfrm>
            <a:off x="4892040" y="1325880"/>
            <a:ext cx="3886200" cy="256032"/>
          </a:xfrm>
          <a:prstGeom prst="rect">
            <a:avLst/>
          </a:prstGeom>
          <a:noFill/>
          <a:ln/>
        </p:spPr>
        <p:txBody>
          <a:bodyPr wrap="square" rtlCol="0" anchor="ctr"/>
          <a:lstStyle/>
          <a:p>
            <a:pPr marL="0" indent="0">
              <a:buNone/>
            </a:pPr>
            <a:r>
              <a:rPr lang="en-US" sz="1100" b="1" dirty="0">
                <a:solidFill>
                  <a:srgbClr val="1E293B"/>
                </a:solidFill>
              </a:rPr>
              <a:t>Exploitation of Time Delays</a:t>
            </a:r>
            <a:endParaRPr lang="en-US" sz="1100" dirty="0"/>
          </a:p>
        </p:txBody>
      </p:sp>
      <p:sp>
        <p:nvSpPr>
          <p:cNvPr id="10" name="Text 8"/>
          <p:cNvSpPr/>
          <p:nvPr/>
        </p:nvSpPr>
        <p:spPr>
          <a:xfrm>
            <a:off x="4892040" y="1600200"/>
            <a:ext cx="3886200" cy="1005840"/>
          </a:xfrm>
          <a:prstGeom prst="rect">
            <a:avLst/>
          </a:prstGeom>
          <a:noFill/>
          <a:ln/>
        </p:spPr>
        <p:txBody>
          <a:bodyPr wrap="square" rtlCol="0" anchor="ctr"/>
          <a:lstStyle/>
          <a:p>
            <a:pPr marL="0" indent="0">
              <a:buNone/>
            </a:pPr>
            <a:r>
              <a:rPr lang="en-US" sz="950" dirty="0">
                <a:solidFill>
                  <a:srgbClr val="64748B"/>
                </a:solidFill>
              </a:rPr>
              <a:t>Criminals exploit time delays between different countries' banking systems to move and layer illicit funds.</a:t>
            </a:r>
            <a:endParaRPr lang="en-US" sz="950" dirty="0"/>
          </a:p>
        </p:txBody>
      </p:sp>
      <p:sp>
        <p:nvSpPr>
          <p:cNvPr id="11" name="Shape 9"/>
          <p:cNvSpPr/>
          <p:nvPr/>
        </p:nvSpPr>
        <p:spPr>
          <a:xfrm>
            <a:off x="228600" y="2926080"/>
            <a:ext cx="4251960" cy="1554480"/>
          </a:xfrm>
          <a:prstGeom prst="rect">
            <a:avLst/>
          </a:prstGeom>
          <a:solidFill>
            <a:srgbClr val="FFF1F2"/>
          </a:solidFill>
          <a:ln w="12700">
            <a:solidFill>
              <a:srgbClr val="FECACA"/>
            </a:solidFill>
            <a:prstDash val="solid"/>
          </a:ln>
        </p:spPr>
      </p:sp>
      <p:sp>
        <p:nvSpPr>
          <p:cNvPr id="12" name="Text 10"/>
          <p:cNvSpPr/>
          <p:nvPr/>
        </p:nvSpPr>
        <p:spPr>
          <a:xfrm>
            <a:off x="411480" y="3063240"/>
            <a:ext cx="3886200" cy="256032"/>
          </a:xfrm>
          <a:prstGeom prst="rect">
            <a:avLst/>
          </a:prstGeom>
          <a:noFill/>
          <a:ln/>
        </p:spPr>
        <p:txBody>
          <a:bodyPr wrap="square" rtlCol="0" anchor="ctr"/>
          <a:lstStyle/>
          <a:p>
            <a:pPr marL="0" indent="0">
              <a:buNone/>
            </a:pPr>
            <a:r>
              <a:rPr lang="en-US" sz="1100" b="1" dirty="0">
                <a:solidFill>
                  <a:srgbClr val="1E293B"/>
                </a:solidFill>
              </a:rPr>
              <a:t>The Multi-Jurisdiction Window</a:t>
            </a:r>
            <a:endParaRPr lang="en-US" sz="1100" dirty="0"/>
          </a:p>
        </p:txBody>
      </p:sp>
      <p:sp>
        <p:nvSpPr>
          <p:cNvPr id="13" name="Text 11"/>
          <p:cNvSpPr/>
          <p:nvPr/>
        </p:nvSpPr>
        <p:spPr>
          <a:xfrm>
            <a:off x="411480" y="3337560"/>
            <a:ext cx="3886200" cy="1005840"/>
          </a:xfrm>
          <a:prstGeom prst="rect">
            <a:avLst/>
          </a:prstGeom>
          <a:noFill/>
          <a:ln/>
        </p:spPr>
        <p:txBody>
          <a:bodyPr wrap="square" rtlCol="0" anchor="ctr"/>
          <a:lstStyle/>
          <a:p>
            <a:pPr marL="0" indent="0">
              <a:buNone/>
            </a:pPr>
            <a:r>
              <a:rPr lang="en-US" sz="950" dirty="0">
                <a:solidFill>
                  <a:srgbClr val="64748B"/>
                </a:solidFill>
              </a:rPr>
              <a:t>Funds move through 5–10 countries in minutes/hours, but AML alerts are generated days or weeks later.</a:t>
            </a:r>
            <a:endParaRPr lang="en-US" sz="950" dirty="0"/>
          </a:p>
        </p:txBody>
      </p:sp>
      <p:sp>
        <p:nvSpPr>
          <p:cNvPr id="14" name="Shape 12"/>
          <p:cNvSpPr/>
          <p:nvPr/>
        </p:nvSpPr>
        <p:spPr>
          <a:xfrm>
            <a:off x="4709160" y="2926080"/>
            <a:ext cx="4251960" cy="1554480"/>
          </a:xfrm>
          <a:prstGeom prst="rect">
            <a:avLst/>
          </a:prstGeom>
          <a:solidFill>
            <a:srgbClr val="FFF1F2"/>
          </a:solidFill>
          <a:ln w="12700">
            <a:solidFill>
              <a:srgbClr val="FECACA"/>
            </a:solidFill>
            <a:prstDash val="solid"/>
          </a:ln>
        </p:spPr>
      </p:sp>
      <p:sp>
        <p:nvSpPr>
          <p:cNvPr id="15" name="Text 13"/>
          <p:cNvSpPr/>
          <p:nvPr/>
        </p:nvSpPr>
        <p:spPr>
          <a:xfrm>
            <a:off x="4892040" y="3063240"/>
            <a:ext cx="3886200" cy="256032"/>
          </a:xfrm>
          <a:prstGeom prst="rect">
            <a:avLst/>
          </a:prstGeom>
          <a:noFill/>
          <a:ln/>
        </p:spPr>
        <p:txBody>
          <a:bodyPr wrap="square" rtlCol="0" anchor="ctr"/>
          <a:lstStyle/>
          <a:p>
            <a:pPr marL="0" indent="0">
              <a:buNone/>
            </a:pPr>
            <a:r>
              <a:rPr lang="en-US" sz="1100" b="1" dirty="0">
                <a:solidFill>
                  <a:srgbClr val="1E293B"/>
                </a:solidFill>
              </a:rPr>
              <a:t>Absence of Global Ledger State</a:t>
            </a:r>
            <a:endParaRPr lang="en-US" sz="1100" dirty="0"/>
          </a:p>
        </p:txBody>
      </p:sp>
      <p:sp>
        <p:nvSpPr>
          <p:cNvPr id="16" name="Text 14"/>
          <p:cNvSpPr/>
          <p:nvPr/>
        </p:nvSpPr>
        <p:spPr>
          <a:xfrm>
            <a:off x="4892040" y="3337560"/>
            <a:ext cx="3886200" cy="1005840"/>
          </a:xfrm>
          <a:prstGeom prst="rect">
            <a:avLst/>
          </a:prstGeom>
          <a:noFill/>
          <a:ln/>
        </p:spPr>
        <p:txBody>
          <a:bodyPr wrap="square" rtlCol="0" anchor="ctr"/>
          <a:lstStyle/>
          <a:p>
            <a:pPr marL="0" indent="0">
              <a:buNone/>
            </a:pPr>
            <a:r>
              <a:rPr lang="en-US" sz="950" dirty="0">
                <a:solidFill>
                  <a:srgbClr val="64748B"/>
                </a:solidFill>
              </a:rPr>
              <a:t>No global unified system exists where all banks and regulators can see the same real-time transaction trail.</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97706"/>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D97706"/>
                </a:solidFill>
              </a:rPr>
              <a:t>SYSTEM BOUNDS</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200" b="1" dirty="0">
                <a:solidFill>
                  <a:srgbClr val="1E293B"/>
                </a:solidFill>
              </a:rPr>
              <a:t>Why This Problem Still Exists Today</a:t>
            </a:r>
            <a:endParaRPr lang="en-US" sz="2200" dirty="0"/>
          </a:p>
        </p:txBody>
      </p:sp>
      <p:sp>
        <p:nvSpPr>
          <p:cNvPr id="5" name="Shape 3"/>
          <p:cNvSpPr/>
          <p:nvPr/>
        </p:nvSpPr>
        <p:spPr>
          <a:xfrm>
            <a:off x="228600" y="1097280"/>
            <a:ext cx="2715768" cy="1508760"/>
          </a:xfrm>
          <a:prstGeom prst="rect">
            <a:avLst/>
          </a:prstGeom>
          <a:solidFill>
            <a:srgbClr val="FFFFFF"/>
          </a:solidFill>
          <a:ln w="12700">
            <a:solidFill>
              <a:srgbClr val="E2E8F0"/>
            </a:solidFill>
            <a:prstDash val="solid"/>
          </a:ln>
        </p:spPr>
      </p:sp>
      <p:sp>
        <p:nvSpPr>
          <p:cNvPr id="6" name="Shape 4"/>
          <p:cNvSpPr/>
          <p:nvPr/>
        </p:nvSpPr>
        <p:spPr>
          <a:xfrm>
            <a:off x="393192" y="1280160"/>
            <a:ext cx="457200" cy="457200"/>
          </a:xfrm>
          <a:prstGeom prst="rect">
            <a:avLst/>
          </a:prstGeom>
          <a:solidFill>
            <a:srgbClr val="F1F5F9"/>
          </a:solidFill>
          <a:ln/>
        </p:spPr>
      </p:sp>
      <p:sp>
        <p:nvSpPr>
          <p:cNvPr id="7" name="Text 5"/>
          <p:cNvSpPr/>
          <p:nvPr/>
        </p:nvSpPr>
        <p:spPr>
          <a:xfrm>
            <a:off x="393192" y="1280160"/>
            <a:ext cx="457200" cy="457200"/>
          </a:xfrm>
          <a:prstGeom prst="rect">
            <a:avLst/>
          </a:prstGeom>
          <a:noFill/>
          <a:ln/>
        </p:spPr>
        <p:txBody>
          <a:bodyPr wrap="square" rtlCol="0" anchor="ctr"/>
          <a:lstStyle/>
          <a:p>
            <a:pPr marL="0" indent="0" algn="ctr">
              <a:buNone/>
            </a:pPr>
            <a:r>
              <a:rPr lang="en-US" sz="1000" b="1" dirty="0">
                <a:solidFill>
                  <a:srgbClr val="64748B"/>
                </a:solidFill>
              </a:rPr>
              <a:t>01</a:t>
            </a:r>
            <a:endParaRPr lang="en-US" sz="1000" dirty="0"/>
          </a:p>
        </p:txBody>
      </p:sp>
      <p:sp>
        <p:nvSpPr>
          <p:cNvPr id="8" name="Text 6"/>
          <p:cNvSpPr/>
          <p:nvPr/>
        </p:nvSpPr>
        <p:spPr>
          <a:xfrm>
            <a:off x="393192" y="1810512"/>
            <a:ext cx="2377440" cy="274320"/>
          </a:xfrm>
          <a:prstGeom prst="rect">
            <a:avLst/>
          </a:prstGeom>
          <a:noFill/>
          <a:ln/>
        </p:spPr>
        <p:txBody>
          <a:bodyPr wrap="square" rtlCol="0" anchor="ctr"/>
          <a:lstStyle/>
          <a:p>
            <a:pPr marL="0" indent="0">
              <a:buNone/>
            </a:pPr>
            <a:r>
              <a:rPr lang="en-US" sz="950" b="1" dirty="0">
                <a:solidFill>
                  <a:srgbClr val="1E293B"/>
                </a:solidFill>
              </a:rPr>
              <a:t>Isolated National Systems</a:t>
            </a:r>
            <a:endParaRPr lang="en-US" sz="950" dirty="0"/>
          </a:p>
        </p:txBody>
      </p:sp>
      <p:sp>
        <p:nvSpPr>
          <p:cNvPr id="9" name="Text 7"/>
          <p:cNvSpPr/>
          <p:nvPr/>
        </p:nvSpPr>
        <p:spPr>
          <a:xfrm>
            <a:off x="393192" y="2103120"/>
            <a:ext cx="2377440" cy="411480"/>
          </a:xfrm>
          <a:prstGeom prst="rect">
            <a:avLst/>
          </a:prstGeom>
          <a:noFill/>
          <a:ln/>
        </p:spPr>
        <p:txBody>
          <a:bodyPr wrap="square" rtlCol="0" anchor="ctr"/>
          <a:lstStyle/>
          <a:p>
            <a:pPr marL="0" indent="0">
              <a:buNone/>
            </a:pPr>
            <a:r>
              <a:rPr lang="en-US" sz="850" dirty="0">
                <a:solidFill>
                  <a:srgbClr val="64748B"/>
                </a:solidFill>
              </a:rPr>
              <a:t>Banks operate in isolated national systems, creating structural data silos.</a:t>
            </a:r>
            <a:endParaRPr lang="en-US" sz="850" dirty="0"/>
          </a:p>
        </p:txBody>
      </p:sp>
      <p:sp>
        <p:nvSpPr>
          <p:cNvPr id="10" name="Shape 8"/>
          <p:cNvSpPr/>
          <p:nvPr/>
        </p:nvSpPr>
        <p:spPr>
          <a:xfrm>
            <a:off x="3172968" y="1097280"/>
            <a:ext cx="2715768" cy="1508760"/>
          </a:xfrm>
          <a:prstGeom prst="rect">
            <a:avLst/>
          </a:prstGeom>
          <a:solidFill>
            <a:srgbClr val="FFFFFF"/>
          </a:solidFill>
          <a:ln w="12700">
            <a:solidFill>
              <a:srgbClr val="E2E8F0"/>
            </a:solidFill>
            <a:prstDash val="solid"/>
          </a:ln>
        </p:spPr>
      </p:sp>
      <p:sp>
        <p:nvSpPr>
          <p:cNvPr id="11" name="Shape 9"/>
          <p:cNvSpPr/>
          <p:nvPr/>
        </p:nvSpPr>
        <p:spPr>
          <a:xfrm>
            <a:off x="3337560" y="1280160"/>
            <a:ext cx="457200" cy="457200"/>
          </a:xfrm>
          <a:prstGeom prst="rect">
            <a:avLst/>
          </a:prstGeom>
          <a:solidFill>
            <a:srgbClr val="F1F5F9"/>
          </a:solidFill>
          <a:ln/>
        </p:spPr>
      </p:sp>
      <p:sp>
        <p:nvSpPr>
          <p:cNvPr id="12" name="Text 10"/>
          <p:cNvSpPr/>
          <p:nvPr/>
        </p:nvSpPr>
        <p:spPr>
          <a:xfrm>
            <a:off x="3337560" y="1280160"/>
            <a:ext cx="457200" cy="457200"/>
          </a:xfrm>
          <a:prstGeom prst="rect">
            <a:avLst/>
          </a:prstGeom>
          <a:noFill/>
          <a:ln/>
        </p:spPr>
        <p:txBody>
          <a:bodyPr wrap="square" rtlCol="0" anchor="ctr"/>
          <a:lstStyle/>
          <a:p>
            <a:pPr marL="0" indent="0" algn="ctr">
              <a:buNone/>
            </a:pPr>
            <a:r>
              <a:rPr lang="en-US" sz="1000" b="1" dirty="0">
                <a:solidFill>
                  <a:srgbClr val="64748B"/>
                </a:solidFill>
              </a:rPr>
              <a:t>02</a:t>
            </a:r>
            <a:endParaRPr lang="en-US" sz="1000" dirty="0"/>
          </a:p>
        </p:txBody>
      </p:sp>
      <p:sp>
        <p:nvSpPr>
          <p:cNvPr id="13" name="Text 11"/>
          <p:cNvSpPr/>
          <p:nvPr/>
        </p:nvSpPr>
        <p:spPr>
          <a:xfrm>
            <a:off x="3337560" y="1810512"/>
            <a:ext cx="2377440" cy="274320"/>
          </a:xfrm>
          <a:prstGeom prst="rect">
            <a:avLst/>
          </a:prstGeom>
          <a:noFill/>
          <a:ln/>
        </p:spPr>
        <p:txBody>
          <a:bodyPr wrap="square" rtlCol="0" anchor="ctr"/>
          <a:lstStyle/>
          <a:p>
            <a:pPr marL="0" indent="0">
              <a:buNone/>
            </a:pPr>
            <a:r>
              <a:rPr lang="en-US" sz="950" b="1" dirty="0">
                <a:solidFill>
                  <a:srgbClr val="1E293B"/>
                </a:solidFill>
              </a:rPr>
              <a:t>No Universal Shared Database</a:t>
            </a:r>
            <a:endParaRPr lang="en-US" sz="950" dirty="0"/>
          </a:p>
        </p:txBody>
      </p:sp>
      <p:sp>
        <p:nvSpPr>
          <p:cNvPr id="14" name="Text 12"/>
          <p:cNvSpPr/>
          <p:nvPr/>
        </p:nvSpPr>
        <p:spPr>
          <a:xfrm>
            <a:off x="3337560" y="2103120"/>
            <a:ext cx="2377440" cy="411480"/>
          </a:xfrm>
          <a:prstGeom prst="rect">
            <a:avLst/>
          </a:prstGeom>
          <a:noFill/>
          <a:ln/>
        </p:spPr>
        <p:txBody>
          <a:bodyPr wrap="square" rtlCol="0" anchor="ctr"/>
          <a:lstStyle/>
          <a:p>
            <a:pPr marL="0" indent="0">
              <a:buNone/>
            </a:pPr>
            <a:r>
              <a:rPr lang="en-US" sz="850" dirty="0">
                <a:solidFill>
                  <a:srgbClr val="64748B"/>
                </a:solidFill>
              </a:rPr>
              <a:t>No universal global AML ledger or shared tracking database exists.</a:t>
            </a:r>
            <a:endParaRPr lang="en-US" sz="850" dirty="0"/>
          </a:p>
        </p:txBody>
      </p:sp>
      <p:sp>
        <p:nvSpPr>
          <p:cNvPr id="15" name="Shape 13"/>
          <p:cNvSpPr/>
          <p:nvPr/>
        </p:nvSpPr>
        <p:spPr>
          <a:xfrm>
            <a:off x="6117336" y="1097280"/>
            <a:ext cx="2715768" cy="1508760"/>
          </a:xfrm>
          <a:prstGeom prst="rect">
            <a:avLst/>
          </a:prstGeom>
          <a:solidFill>
            <a:srgbClr val="FFFFFF"/>
          </a:solidFill>
          <a:ln w="12700">
            <a:solidFill>
              <a:srgbClr val="E2E8F0"/>
            </a:solidFill>
            <a:prstDash val="solid"/>
          </a:ln>
        </p:spPr>
      </p:sp>
      <p:sp>
        <p:nvSpPr>
          <p:cNvPr id="16" name="Shape 14"/>
          <p:cNvSpPr/>
          <p:nvPr/>
        </p:nvSpPr>
        <p:spPr>
          <a:xfrm>
            <a:off x="6281928" y="1280160"/>
            <a:ext cx="457200" cy="457200"/>
          </a:xfrm>
          <a:prstGeom prst="rect">
            <a:avLst/>
          </a:prstGeom>
          <a:solidFill>
            <a:srgbClr val="F1F5F9"/>
          </a:solidFill>
          <a:ln/>
        </p:spPr>
      </p:sp>
      <p:sp>
        <p:nvSpPr>
          <p:cNvPr id="17" name="Text 15"/>
          <p:cNvSpPr/>
          <p:nvPr/>
        </p:nvSpPr>
        <p:spPr>
          <a:xfrm>
            <a:off x="6281928" y="1280160"/>
            <a:ext cx="457200" cy="457200"/>
          </a:xfrm>
          <a:prstGeom prst="rect">
            <a:avLst/>
          </a:prstGeom>
          <a:noFill/>
          <a:ln/>
        </p:spPr>
        <p:txBody>
          <a:bodyPr wrap="square" rtlCol="0" anchor="ctr"/>
          <a:lstStyle/>
          <a:p>
            <a:pPr marL="0" indent="0" algn="ctr">
              <a:buNone/>
            </a:pPr>
            <a:r>
              <a:rPr lang="en-US" sz="1000" b="1" dirty="0">
                <a:solidFill>
                  <a:srgbClr val="64748B"/>
                </a:solidFill>
              </a:rPr>
              <a:t>03</a:t>
            </a:r>
            <a:endParaRPr lang="en-US" sz="1000" dirty="0"/>
          </a:p>
        </p:txBody>
      </p:sp>
      <p:sp>
        <p:nvSpPr>
          <p:cNvPr id="18" name="Text 16"/>
          <p:cNvSpPr/>
          <p:nvPr/>
        </p:nvSpPr>
        <p:spPr>
          <a:xfrm>
            <a:off x="6281928" y="1810512"/>
            <a:ext cx="2377440" cy="274320"/>
          </a:xfrm>
          <a:prstGeom prst="rect">
            <a:avLst/>
          </a:prstGeom>
          <a:noFill/>
          <a:ln/>
        </p:spPr>
        <p:txBody>
          <a:bodyPr wrap="square" rtlCol="0" anchor="ctr"/>
          <a:lstStyle/>
          <a:p>
            <a:pPr marL="0" indent="0">
              <a:buNone/>
            </a:pPr>
            <a:r>
              <a:rPr lang="en-US" sz="950" b="1" dirty="0">
                <a:solidFill>
                  <a:srgbClr val="1E293B"/>
                </a:solidFill>
              </a:rPr>
              <a:t>Privacy Regulatory Boundaries</a:t>
            </a:r>
            <a:endParaRPr lang="en-US" sz="950" dirty="0"/>
          </a:p>
        </p:txBody>
      </p:sp>
      <p:sp>
        <p:nvSpPr>
          <p:cNvPr id="19" name="Text 17"/>
          <p:cNvSpPr/>
          <p:nvPr/>
        </p:nvSpPr>
        <p:spPr>
          <a:xfrm>
            <a:off x="6281928" y="2103120"/>
            <a:ext cx="2377440" cy="411480"/>
          </a:xfrm>
          <a:prstGeom prst="rect">
            <a:avLst/>
          </a:prstGeom>
          <a:noFill/>
          <a:ln/>
        </p:spPr>
        <p:txBody>
          <a:bodyPr wrap="square" rtlCol="0" anchor="ctr"/>
          <a:lstStyle/>
          <a:p>
            <a:pPr marL="0" indent="0">
              <a:buNone/>
            </a:pPr>
            <a:r>
              <a:rPr lang="en-US" sz="850" dirty="0">
                <a:solidFill>
                  <a:srgbClr val="64748B"/>
                </a:solidFill>
              </a:rPr>
              <a:t>National privacy laws strictly prevent full, raw data sharing between countries.</a:t>
            </a:r>
            <a:endParaRPr lang="en-US" sz="850" dirty="0"/>
          </a:p>
        </p:txBody>
      </p:sp>
      <p:sp>
        <p:nvSpPr>
          <p:cNvPr id="20" name="Shape 18"/>
          <p:cNvSpPr/>
          <p:nvPr/>
        </p:nvSpPr>
        <p:spPr>
          <a:xfrm>
            <a:off x="228600" y="2788920"/>
            <a:ext cx="2715768" cy="1508760"/>
          </a:xfrm>
          <a:prstGeom prst="rect">
            <a:avLst/>
          </a:prstGeom>
          <a:solidFill>
            <a:srgbClr val="FFFFFF"/>
          </a:solidFill>
          <a:ln w="12700">
            <a:solidFill>
              <a:srgbClr val="E2E8F0"/>
            </a:solidFill>
            <a:prstDash val="solid"/>
          </a:ln>
        </p:spPr>
      </p:sp>
      <p:sp>
        <p:nvSpPr>
          <p:cNvPr id="21" name="Shape 19"/>
          <p:cNvSpPr/>
          <p:nvPr/>
        </p:nvSpPr>
        <p:spPr>
          <a:xfrm>
            <a:off x="393192" y="2971800"/>
            <a:ext cx="457200" cy="457200"/>
          </a:xfrm>
          <a:prstGeom prst="rect">
            <a:avLst/>
          </a:prstGeom>
          <a:solidFill>
            <a:srgbClr val="F1F5F9"/>
          </a:solidFill>
          <a:ln/>
        </p:spPr>
      </p:sp>
      <p:sp>
        <p:nvSpPr>
          <p:cNvPr id="22" name="Text 20"/>
          <p:cNvSpPr/>
          <p:nvPr/>
        </p:nvSpPr>
        <p:spPr>
          <a:xfrm>
            <a:off x="393192" y="2971800"/>
            <a:ext cx="457200" cy="457200"/>
          </a:xfrm>
          <a:prstGeom prst="rect">
            <a:avLst/>
          </a:prstGeom>
          <a:noFill/>
          <a:ln/>
        </p:spPr>
        <p:txBody>
          <a:bodyPr wrap="square" rtlCol="0" anchor="ctr"/>
          <a:lstStyle/>
          <a:p>
            <a:pPr marL="0" indent="0" algn="ctr">
              <a:buNone/>
            </a:pPr>
            <a:r>
              <a:rPr lang="en-US" sz="1000" b="1" dirty="0">
                <a:solidFill>
                  <a:srgbClr val="64748B"/>
                </a:solidFill>
              </a:rPr>
              <a:t>04</a:t>
            </a:r>
            <a:endParaRPr lang="en-US" sz="1000" dirty="0"/>
          </a:p>
        </p:txBody>
      </p:sp>
      <p:sp>
        <p:nvSpPr>
          <p:cNvPr id="23" name="Text 21"/>
          <p:cNvSpPr/>
          <p:nvPr/>
        </p:nvSpPr>
        <p:spPr>
          <a:xfrm>
            <a:off x="393192" y="3502152"/>
            <a:ext cx="2377440" cy="274320"/>
          </a:xfrm>
          <a:prstGeom prst="rect">
            <a:avLst/>
          </a:prstGeom>
          <a:noFill/>
          <a:ln/>
        </p:spPr>
        <p:txBody>
          <a:bodyPr wrap="square" rtlCol="0" anchor="ctr"/>
          <a:lstStyle/>
          <a:p>
            <a:pPr marL="0" indent="0">
              <a:buNone/>
            </a:pPr>
            <a:r>
              <a:rPr lang="en-US" sz="950" b="1" dirty="0">
                <a:solidFill>
                  <a:srgbClr val="1E293B"/>
                </a:solidFill>
              </a:rPr>
              <a:t>Messaging-Only Protocols</a:t>
            </a:r>
            <a:endParaRPr lang="en-US" sz="950" dirty="0"/>
          </a:p>
        </p:txBody>
      </p:sp>
      <p:sp>
        <p:nvSpPr>
          <p:cNvPr id="24" name="Text 22"/>
          <p:cNvSpPr/>
          <p:nvPr/>
        </p:nvSpPr>
        <p:spPr>
          <a:xfrm>
            <a:off x="393192" y="3794760"/>
            <a:ext cx="2377440" cy="411480"/>
          </a:xfrm>
          <a:prstGeom prst="rect">
            <a:avLst/>
          </a:prstGeom>
          <a:noFill/>
          <a:ln/>
        </p:spPr>
        <p:txBody>
          <a:bodyPr wrap="square" rtlCol="0" anchor="ctr"/>
          <a:lstStyle/>
          <a:p>
            <a:pPr marL="0" indent="0">
              <a:buNone/>
            </a:pPr>
            <a:r>
              <a:rPr lang="en-US" sz="850" dirty="0">
                <a:solidFill>
                  <a:srgbClr val="64748B"/>
                </a:solidFill>
              </a:rPr>
              <a:t>SWIFT messages are only communication-based, providing no real-time shared visibility.</a:t>
            </a:r>
            <a:endParaRPr lang="en-US" sz="850" dirty="0"/>
          </a:p>
        </p:txBody>
      </p:sp>
      <p:sp>
        <p:nvSpPr>
          <p:cNvPr id="25" name="Shape 23"/>
          <p:cNvSpPr/>
          <p:nvPr/>
        </p:nvSpPr>
        <p:spPr>
          <a:xfrm>
            <a:off x="3172968" y="2788920"/>
            <a:ext cx="2715768" cy="1508760"/>
          </a:xfrm>
          <a:prstGeom prst="rect">
            <a:avLst/>
          </a:prstGeom>
          <a:solidFill>
            <a:srgbClr val="FFFFFF"/>
          </a:solidFill>
          <a:ln w="12700">
            <a:solidFill>
              <a:srgbClr val="E2E8F0"/>
            </a:solidFill>
            <a:prstDash val="solid"/>
          </a:ln>
        </p:spPr>
      </p:sp>
      <p:sp>
        <p:nvSpPr>
          <p:cNvPr id="26" name="Shape 24"/>
          <p:cNvSpPr/>
          <p:nvPr/>
        </p:nvSpPr>
        <p:spPr>
          <a:xfrm>
            <a:off x="3337560" y="2971800"/>
            <a:ext cx="457200" cy="457200"/>
          </a:xfrm>
          <a:prstGeom prst="rect">
            <a:avLst/>
          </a:prstGeom>
          <a:solidFill>
            <a:srgbClr val="F1F5F9"/>
          </a:solidFill>
          <a:ln/>
        </p:spPr>
      </p:sp>
      <p:sp>
        <p:nvSpPr>
          <p:cNvPr id="27" name="Text 25"/>
          <p:cNvSpPr/>
          <p:nvPr/>
        </p:nvSpPr>
        <p:spPr>
          <a:xfrm>
            <a:off x="3337560" y="2971800"/>
            <a:ext cx="457200" cy="457200"/>
          </a:xfrm>
          <a:prstGeom prst="rect">
            <a:avLst/>
          </a:prstGeom>
          <a:noFill/>
          <a:ln/>
        </p:spPr>
        <p:txBody>
          <a:bodyPr wrap="square" rtlCol="0" anchor="ctr"/>
          <a:lstStyle/>
          <a:p>
            <a:pPr marL="0" indent="0" algn="ctr">
              <a:buNone/>
            </a:pPr>
            <a:r>
              <a:rPr lang="en-US" sz="1000" b="1" dirty="0">
                <a:solidFill>
                  <a:srgbClr val="64748B"/>
                </a:solidFill>
              </a:rPr>
              <a:t>05</a:t>
            </a:r>
            <a:endParaRPr lang="en-US" sz="1000" dirty="0"/>
          </a:p>
        </p:txBody>
      </p:sp>
      <p:sp>
        <p:nvSpPr>
          <p:cNvPr id="28" name="Text 26"/>
          <p:cNvSpPr/>
          <p:nvPr/>
        </p:nvSpPr>
        <p:spPr>
          <a:xfrm>
            <a:off x="3337560" y="3502152"/>
            <a:ext cx="2377440" cy="274320"/>
          </a:xfrm>
          <a:prstGeom prst="rect">
            <a:avLst/>
          </a:prstGeom>
          <a:noFill/>
          <a:ln/>
        </p:spPr>
        <p:txBody>
          <a:bodyPr wrap="square" rtlCol="0" anchor="ctr"/>
          <a:lstStyle/>
          <a:p>
            <a:pPr marL="0" indent="0">
              <a:buNone/>
            </a:pPr>
            <a:r>
              <a:rPr lang="en-US" sz="950" b="1" dirty="0">
                <a:solidFill>
                  <a:srgbClr val="1E293B"/>
                </a:solidFill>
              </a:rPr>
              <a:t>Reactive, Post-Analysis Alerting</a:t>
            </a:r>
            <a:endParaRPr lang="en-US" sz="950" dirty="0"/>
          </a:p>
        </p:txBody>
      </p:sp>
      <p:sp>
        <p:nvSpPr>
          <p:cNvPr id="29" name="Text 27"/>
          <p:cNvSpPr/>
          <p:nvPr/>
        </p:nvSpPr>
        <p:spPr>
          <a:xfrm>
            <a:off x="3337560" y="3794760"/>
            <a:ext cx="2377440" cy="411480"/>
          </a:xfrm>
          <a:prstGeom prst="rect">
            <a:avLst/>
          </a:prstGeom>
          <a:noFill/>
          <a:ln/>
        </p:spPr>
        <p:txBody>
          <a:bodyPr wrap="square" rtlCol="0" anchor="ctr"/>
          <a:lstStyle/>
          <a:p>
            <a:pPr marL="0" indent="0">
              <a:buNone/>
            </a:pPr>
            <a:r>
              <a:rPr lang="en-US" sz="850" dirty="0">
                <a:solidFill>
                  <a:srgbClr val="64748B"/>
                </a:solidFill>
              </a:rPr>
              <a:t>AML systems are reactive, not real-time, operating primarily on post-analysis historical data.</a:t>
            </a:r>
            <a:endParaRPr lang="en-US" sz="850" dirty="0"/>
          </a:p>
        </p:txBody>
      </p:sp>
      <p:sp>
        <p:nvSpPr>
          <p:cNvPr id="30" name="Shape 28"/>
          <p:cNvSpPr/>
          <p:nvPr/>
        </p:nvSpPr>
        <p:spPr>
          <a:xfrm>
            <a:off x="6117336" y="2788920"/>
            <a:ext cx="2715768" cy="1508760"/>
          </a:xfrm>
          <a:prstGeom prst="rect">
            <a:avLst/>
          </a:prstGeom>
          <a:solidFill>
            <a:srgbClr val="FFFFFF"/>
          </a:solidFill>
          <a:ln w="12700">
            <a:solidFill>
              <a:srgbClr val="E2E8F0"/>
            </a:solidFill>
            <a:prstDash val="solid"/>
          </a:ln>
        </p:spPr>
      </p:sp>
      <p:sp>
        <p:nvSpPr>
          <p:cNvPr id="31" name="Shape 29"/>
          <p:cNvSpPr/>
          <p:nvPr/>
        </p:nvSpPr>
        <p:spPr>
          <a:xfrm>
            <a:off x="6281928" y="2971800"/>
            <a:ext cx="457200" cy="457200"/>
          </a:xfrm>
          <a:prstGeom prst="rect">
            <a:avLst/>
          </a:prstGeom>
          <a:solidFill>
            <a:srgbClr val="F1F5F9"/>
          </a:solidFill>
          <a:ln/>
        </p:spPr>
      </p:sp>
      <p:sp>
        <p:nvSpPr>
          <p:cNvPr id="32" name="Text 30"/>
          <p:cNvSpPr/>
          <p:nvPr/>
        </p:nvSpPr>
        <p:spPr>
          <a:xfrm>
            <a:off x="6281928" y="2971800"/>
            <a:ext cx="457200" cy="457200"/>
          </a:xfrm>
          <a:prstGeom prst="rect">
            <a:avLst/>
          </a:prstGeom>
          <a:noFill/>
          <a:ln/>
        </p:spPr>
        <p:txBody>
          <a:bodyPr wrap="square" rtlCol="0" anchor="ctr"/>
          <a:lstStyle/>
          <a:p>
            <a:pPr marL="0" indent="0" algn="ctr">
              <a:buNone/>
            </a:pPr>
            <a:r>
              <a:rPr lang="en-US" sz="1000" b="1" dirty="0">
                <a:solidFill>
                  <a:srgbClr val="64748B"/>
                </a:solidFill>
              </a:rPr>
              <a:t>06</a:t>
            </a:r>
            <a:endParaRPr lang="en-US" sz="1000" dirty="0"/>
          </a:p>
        </p:txBody>
      </p:sp>
      <p:sp>
        <p:nvSpPr>
          <p:cNvPr id="33" name="Text 31"/>
          <p:cNvSpPr/>
          <p:nvPr/>
        </p:nvSpPr>
        <p:spPr>
          <a:xfrm>
            <a:off x="6281928" y="3502152"/>
            <a:ext cx="2377440" cy="274320"/>
          </a:xfrm>
          <a:prstGeom prst="rect">
            <a:avLst/>
          </a:prstGeom>
          <a:noFill/>
          <a:ln/>
        </p:spPr>
        <p:txBody>
          <a:bodyPr wrap="square" rtlCol="0" anchor="ctr"/>
          <a:lstStyle/>
          <a:p>
            <a:pPr marL="0" indent="0">
              <a:buNone/>
            </a:pPr>
            <a:r>
              <a:rPr lang="en-US" sz="950" b="1" dirty="0">
                <a:solidFill>
                  <a:srgbClr val="1E293B"/>
                </a:solidFill>
              </a:rPr>
              <a:t>Operational Delays</a:t>
            </a:r>
            <a:endParaRPr lang="en-US" sz="950" dirty="0"/>
          </a:p>
        </p:txBody>
      </p:sp>
      <p:sp>
        <p:nvSpPr>
          <p:cNvPr id="34" name="Text 32"/>
          <p:cNvSpPr/>
          <p:nvPr/>
        </p:nvSpPr>
        <p:spPr>
          <a:xfrm>
            <a:off x="6281928" y="3794760"/>
            <a:ext cx="2377440" cy="411480"/>
          </a:xfrm>
          <a:prstGeom prst="rect">
            <a:avLst/>
          </a:prstGeom>
          <a:noFill/>
          <a:ln/>
        </p:spPr>
        <p:txBody>
          <a:bodyPr wrap="square" rtlCol="0" anchor="ctr"/>
          <a:lstStyle/>
          <a:p>
            <a:pPr marL="0" indent="0">
              <a:buNone/>
            </a:pPr>
            <a:r>
              <a:rPr lang="en-US" sz="850" dirty="0">
                <a:solidFill>
                  <a:srgbClr val="64748B"/>
                </a:solidFill>
              </a:rPr>
              <a:t>Criminal networks operate exponentially faster than complex compliance reporting systems.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C2626"/>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DC2626"/>
                </a:solidFill>
              </a:rPr>
              <a:t>CASE STUDY</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200" b="1" dirty="0">
                <a:solidFill>
                  <a:srgbClr val="1E293B"/>
                </a:solidFill>
              </a:rPr>
              <a:t>Real Case Study: Nirav Modi – PNB Scam</a:t>
            </a:r>
            <a:endParaRPr lang="en-US" sz="2200" dirty="0"/>
          </a:p>
        </p:txBody>
      </p:sp>
      <p:sp>
        <p:nvSpPr>
          <p:cNvPr id="5" name="Shape 3"/>
          <p:cNvSpPr/>
          <p:nvPr/>
        </p:nvSpPr>
        <p:spPr>
          <a:xfrm>
            <a:off x="228600" y="1051560"/>
            <a:ext cx="2560320" cy="347472"/>
          </a:xfrm>
          <a:prstGeom prst="rect">
            <a:avLst/>
          </a:prstGeom>
          <a:solidFill>
            <a:srgbClr val="FEE2E2"/>
          </a:solidFill>
          <a:ln w="12700">
            <a:solidFill>
              <a:srgbClr val="FECACA"/>
            </a:solidFill>
            <a:prstDash val="solid"/>
          </a:ln>
        </p:spPr>
      </p:sp>
      <p:sp>
        <p:nvSpPr>
          <p:cNvPr id="6" name="Text 4"/>
          <p:cNvSpPr/>
          <p:nvPr/>
        </p:nvSpPr>
        <p:spPr>
          <a:xfrm>
            <a:off x="228600" y="1051560"/>
            <a:ext cx="2560320" cy="347472"/>
          </a:xfrm>
          <a:prstGeom prst="rect">
            <a:avLst/>
          </a:prstGeom>
          <a:noFill/>
          <a:ln/>
        </p:spPr>
        <p:txBody>
          <a:bodyPr wrap="square" rtlCol="0" anchor="ctr"/>
          <a:lstStyle/>
          <a:p>
            <a:pPr marL="0" indent="0" algn="ctr">
              <a:buNone/>
            </a:pPr>
            <a:r>
              <a:rPr lang="en-US" sz="1000" b="1" dirty="0">
                <a:solidFill>
                  <a:srgbClr val="991B1B"/>
                </a:solidFill>
              </a:rPr>
              <a:t>₹13,000+ CRORE FRAUD</a:t>
            </a:r>
            <a:endParaRPr lang="en-US" sz="1000" dirty="0"/>
          </a:p>
        </p:txBody>
      </p:sp>
      <p:sp>
        <p:nvSpPr>
          <p:cNvPr id="7" name="Text 5"/>
          <p:cNvSpPr/>
          <p:nvPr/>
        </p:nvSpPr>
        <p:spPr>
          <a:xfrm>
            <a:off x="228600" y="1508760"/>
            <a:ext cx="8686800" cy="960120"/>
          </a:xfrm>
          <a:prstGeom prst="rect">
            <a:avLst/>
          </a:prstGeom>
          <a:noFill/>
          <a:ln/>
        </p:spPr>
        <p:txBody>
          <a:bodyPr wrap="square" rtlCol="0" anchor="ctr"/>
          <a:lstStyle/>
          <a:p>
            <a:pPr marL="0" indent="0">
              <a:spcAft>
                <a:spcPts val="400"/>
              </a:spcAft>
              <a:buNone/>
            </a:pPr>
            <a:r>
              <a:rPr lang="en-US" sz="950" dirty="0">
                <a:solidFill>
                  <a:srgbClr val="64748B"/>
                </a:solidFill>
              </a:rPr>
              <a:t>The Nirav Modi–Punjab National Bank (PNB) scam is one of the largest banking frauds in India, involving financial irregularities estimated at around ₹13,000+ crore. The fraud came to light in 2018 but involved transactions going on for several years. Modi allegedly misused the system by obtaining fraudulent Letters of Undertaking (LoUs) from PNB's Brady House branch in Mumbai without proper authorization or entry into the core banking system.</a:t>
            </a:r>
            <a:endParaRPr lang="en-US" sz="950" dirty="0"/>
          </a:p>
        </p:txBody>
      </p:sp>
      <p:sp>
        <p:nvSpPr>
          <p:cNvPr id="8" name="Text 6"/>
          <p:cNvSpPr/>
          <p:nvPr/>
        </p:nvSpPr>
        <p:spPr>
          <a:xfrm>
            <a:off x="228600" y="2560320"/>
            <a:ext cx="8686800" cy="960120"/>
          </a:xfrm>
          <a:prstGeom prst="rect">
            <a:avLst/>
          </a:prstGeom>
          <a:noFill/>
          <a:ln/>
        </p:spPr>
        <p:txBody>
          <a:bodyPr wrap="square" rtlCol="0" anchor="ctr"/>
          <a:lstStyle/>
          <a:p>
            <a:pPr marL="0" indent="0">
              <a:spcAft>
                <a:spcPts val="400"/>
              </a:spcAft>
              <a:buNone/>
            </a:pPr>
            <a:r>
              <a:rPr lang="en-US" sz="950" dirty="0">
                <a:solidFill>
                  <a:srgbClr val="64748B"/>
                </a:solidFill>
              </a:rPr>
              <a:t>These LoUs allowed his companies to secure credit from overseas branches. The funds were routed through multiple shell companies and foreign entities across different jurisdictions to hide the origin and destination — a classic money laundering technique.</a:t>
            </a:r>
            <a:endParaRPr lang="en-US" sz="950" dirty="0"/>
          </a:p>
        </p:txBody>
      </p:sp>
      <p:sp>
        <p:nvSpPr>
          <p:cNvPr id="9" name="Text 7"/>
          <p:cNvSpPr/>
          <p:nvPr/>
        </p:nvSpPr>
        <p:spPr>
          <a:xfrm>
            <a:off x="228600" y="3611880"/>
            <a:ext cx="8686800" cy="960120"/>
          </a:xfrm>
          <a:prstGeom prst="rect">
            <a:avLst/>
          </a:prstGeom>
          <a:noFill/>
          <a:ln/>
        </p:spPr>
        <p:txBody>
          <a:bodyPr wrap="square" rtlCol="0" anchor="ctr"/>
          <a:lstStyle/>
          <a:p>
            <a:pPr marL="0" indent="0">
              <a:spcAft>
                <a:spcPts val="400"/>
              </a:spcAft>
              <a:buNone/>
            </a:pPr>
            <a:r>
              <a:rPr lang="en-US" sz="950" dirty="0">
                <a:solidFill>
                  <a:srgbClr val="64748B"/>
                </a:solidFill>
              </a:rPr>
              <a:t>The fraud remained undetected for years due to weak internal controls, lack of real-time monitoring, and poor integration between banking databases. Since the LoUs were not recorded properly, other institutions were unaware. The scheme collapsed during a routine audit. By then, significant funds had already been moved abroad. This case highlights major weaknesses in traditional AML systems: lack of transparency, delayed detection, and absence of real-time cross-border monitoring.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C2626"/>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DC2626"/>
                </a:solidFill>
              </a:rPr>
              <a:t>ROOT CAUSES</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000" b="1" dirty="0">
                <a:solidFill>
                  <a:srgbClr val="1E293B"/>
                </a:solidFill>
              </a:rPr>
              <a:t>Systemic Failure Modes of Legacy AML Frameworks</a:t>
            </a:r>
            <a:endParaRPr lang="en-US" sz="2000" dirty="0"/>
          </a:p>
        </p:txBody>
      </p:sp>
      <p:sp>
        <p:nvSpPr>
          <p:cNvPr id="5" name="Shape 3"/>
          <p:cNvSpPr/>
          <p:nvPr/>
        </p:nvSpPr>
        <p:spPr>
          <a:xfrm>
            <a:off x="228600" y="1051560"/>
            <a:ext cx="2715768" cy="1097280"/>
          </a:xfrm>
          <a:prstGeom prst="rect">
            <a:avLst/>
          </a:prstGeom>
          <a:solidFill>
            <a:srgbClr val="F8FAFC"/>
          </a:solidFill>
          <a:ln w="12700">
            <a:solidFill>
              <a:srgbClr val="E2E8F0"/>
            </a:solidFill>
            <a:prstDash val="solid"/>
          </a:ln>
        </p:spPr>
      </p:sp>
      <p:sp>
        <p:nvSpPr>
          <p:cNvPr id="6" name="Text 4"/>
          <p:cNvSpPr/>
          <p:nvPr/>
        </p:nvSpPr>
        <p:spPr>
          <a:xfrm>
            <a:off x="393192" y="1161288"/>
            <a:ext cx="2377440" cy="256032"/>
          </a:xfrm>
          <a:prstGeom prst="rect">
            <a:avLst/>
          </a:prstGeom>
          <a:noFill/>
          <a:ln/>
        </p:spPr>
        <p:txBody>
          <a:bodyPr wrap="square" rtlCol="0" anchor="ctr"/>
          <a:lstStyle/>
          <a:p>
            <a:pPr marL="0" indent="0">
              <a:buNone/>
            </a:pPr>
            <a:r>
              <a:rPr lang="en-US" sz="950" b="1" dirty="0">
                <a:solidFill>
                  <a:srgbClr val="1E293B"/>
                </a:solidFill>
              </a:rPr>
              <a:t>Historical Data Reliance</a:t>
            </a:r>
            <a:endParaRPr lang="en-US" sz="950" dirty="0"/>
          </a:p>
        </p:txBody>
      </p:sp>
      <p:sp>
        <p:nvSpPr>
          <p:cNvPr id="7" name="Text 5"/>
          <p:cNvSpPr/>
          <p:nvPr/>
        </p:nvSpPr>
        <p:spPr>
          <a:xfrm>
            <a:off x="393192" y="1435608"/>
            <a:ext cx="2377440" cy="594360"/>
          </a:xfrm>
          <a:prstGeom prst="rect">
            <a:avLst/>
          </a:prstGeom>
          <a:noFill/>
          <a:ln/>
        </p:spPr>
        <p:txBody>
          <a:bodyPr wrap="square" rtlCol="0" anchor="ctr"/>
          <a:lstStyle/>
          <a:p>
            <a:pPr marL="0" indent="0">
              <a:buNone/>
            </a:pPr>
            <a:r>
              <a:rPr lang="en-US" sz="850" dirty="0">
                <a:solidFill>
                  <a:srgbClr val="64748B"/>
                </a:solidFill>
              </a:rPr>
              <a:t>AML systems rely on historical data, failing to detect emerging fraud patterns.</a:t>
            </a:r>
            <a:endParaRPr lang="en-US" sz="850" dirty="0"/>
          </a:p>
        </p:txBody>
      </p:sp>
      <p:sp>
        <p:nvSpPr>
          <p:cNvPr id="8" name="Shape 6"/>
          <p:cNvSpPr/>
          <p:nvPr/>
        </p:nvSpPr>
        <p:spPr>
          <a:xfrm>
            <a:off x="3172968" y="1051560"/>
            <a:ext cx="2715768" cy="1097280"/>
          </a:xfrm>
          <a:prstGeom prst="rect">
            <a:avLst/>
          </a:prstGeom>
          <a:solidFill>
            <a:srgbClr val="F8FAFC"/>
          </a:solidFill>
          <a:ln w="12700">
            <a:solidFill>
              <a:srgbClr val="E2E8F0"/>
            </a:solidFill>
            <a:prstDash val="solid"/>
          </a:ln>
        </p:spPr>
      </p:sp>
      <p:sp>
        <p:nvSpPr>
          <p:cNvPr id="9" name="Text 7"/>
          <p:cNvSpPr/>
          <p:nvPr/>
        </p:nvSpPr>
        <p:spPr>
          <a:xfrm>
            <a:off x="3337560" y="1161288"/>
            <a:ext cx="2377440" cy="256032"/>
          </a:xfrm>
          <a:prstGeom prst="rect">
            <a:avLst/>
          </a:prstGeom>
          <a:noFill/>
          <a:ln/>
        </p:spPr>
        <p:txBody>
          <a:bodyPr wrap="square" rtlCol="0" anchor="ctr"/>
          <a:lstStyle/>
          <a:p>
            <a:pPr marL="0" indent="0">
              <a:buNone/>
            </a:pPr>
            <a:r>
              <a:rPr lang="en-US" sz="950" b="1" dirty="0">
                <a:solidFill>
                  <a:srgbClr val="1E293B"/>
                </a:solidFill>
              </a:rPr>
              <a:t>Static, Rule-Based Engines</a:t>
            </a:r>
            <a:endParaRPr lang="en-US" sz="950" dirty="0"/>
          </a:p>
        </p:txBody>
      </p:sp>
      <p:sp>
        <p:nvSpPr>
          <p:cNvPr id="10" name="Text 8"/>
          <p:cNvSpPr/>
          <p:nvPr/>
        </p:nvSpPr>
        <p:spPr>
          <a:xfrm>
            <a:off x="3337560" y="1435608"/>
            <a:ext cx="2377440" cy="594360"/>
          </a:xfrm>
          <a:prstGeom prst="rect">
            <a:avLst/>
          </a:prstGeom>
          <a:noFill/>
          <a:ln/>
        </p:spPr>
        <p:txBody>
          <a:bodyPr wrap="square" rtlCol="0" anchor="ctr"/>
          <a:lstStyle/>
          <a:p>
            <a:pPr marL="0" indent="0">
              <a:buNone/>
            </a:pPr>
            <a:r>
              <a:rPr lang="en-US" sz="850" dirty="0">
                <a:solidFill>
                  <a:srgbClr val="64748B"/>
                </a:solidFill>
              </a:rPr>
              <a:t>Most systems are rule-based and static, lacking adaptation to evolving criminal techniques.</a:t>
            </a:r>
            <a:endParaRPr lang="en-US" sz="850" dirty="0"/>
          </a:p>
        </p:txBody>
      </p:sp>
      <p:sp>
        <p:nvSpPr>
          <p:cNvPr id="11" name="Shape 9"/>
          <p:cNvSpPr/>
          <p:nvPr/>
        </p:nvSpPr>
        <p:spPr>
          <a:xfrm>
            <a:off x="6117336" y="1051560"/>
            <a:ext cx="2715768" cy="1097280"/>
          </a:xfrm>
          <a:prstGeom prst="rect">
            <a:avLst/>
          </a:prstGeom>
          <a:solidFill>
            <a:srgbClr val="F8FAFC"/>
          </a:solidFill>
          <a:ln w="12700">
            <a:solidFill>
              <a:srgbClr val="E2E8F0"/>
            </a:solidFill>
            <a:prstDash val="solid"/>
          </a:ln>
        </p:spPr>
      </p:sp>
      <p:sp>
        <p:nvSpPr>
          <p:cNvPr id="12" name="Text 10"/>
          <p:cNvSpPr/>
          <p:nvPr/>
        </p:nvSpPr>
        <p:spPr>
          <a:xfrm>
            <a:off x="6281928" y="1161288"/>
            <a:ext cx="2377440" cy="256032"/>
          </a:xfrm>
          <a:prstGeom prst="rect">
            <a:avLst/>
          </a:prstGeom>
          <a:noFill/>
          <a:ln/>
        </p:spPr>
        <p:txBody>
          <a:bodyPr wrap="square" rtlCol="0" anchor="ctr"/>
          <a:lstStyle/>
          <a:p>
            <a:pPr marL="0" indent="0">
              <a:buNone/>
            </a:pPr>
            <a:r>
              <a:rPr lang="en-US" sz="950" b="1" dirty="0">
                <a:solidFill>
                  <a:srgbClr val="1E293B"/>
                </a:solidFill>
              </a:rPr>
              <a:t>Zero Real-Time Monitoring</a:t>
            </a:r>
            <a:endParaRPr lang="en-US" sz="950" dirty="0"/>
          </a:p>
        </p:txBody>
      </p:sp>
      <p:sp>
        <p:nvSpPr>
          <p:cNvPr id="13" name="Text 11"/>
          <p:cNvSpPr/>
          <p:nvPr/>
        </p:nvSpPr>
        <p:spPr>
          <a:xfrm>
            <a:off x="6281928" y="1435608"/>
            <a:ext cx="2377440" cy="594360"/>
          </a:xfrm>
          <a:prstGeom prst="rect">
            <a:avLst/>
          </a:prstGeom>
          <a:noFill/>
          <a:ln/>
        </p:spPr>
        <p:txBody>
          <a:bodyPr wrap="square" rtlCol="0" anchor="ctr"/>
          <a:lstStyle/>
          <a:p>
            <a:pPr marL="0" indent="0">
              <a:buNone/>
            </a:pPr>
            <a:r>
              <a:rPr lang="en-US" sz="850" dirty="0">
                <a:solidFill>
                  <a:srgbClr val="64748B"/>
                </a:solidFill>
              </a:rPr>
              <a:t>No real-time tracking of transaction states across independent banks and countries.</a:t>
            </a:r>
            <a:endParaRPr lang="en-US" sz="850" dirty="0"/>
          </a:p>
        </p:txBody>
      </p:sp>
      <p:sp>
        <p:nvSpPr>
          <p:cNvPr id="14" name="Shape 12"/>
          <p:cNvSpPr/>
          <p:nvPr/>
        </p:nvSpPr>
        <p:spPr>
          <a:xfrm>
            <a:off x="228600" y="2240280"/>
            <a:ext cx="2715768" cy="1097280"/>
          </a:xfrm>
          <a:prstGeom prst="rect">
            <a:avLst/>
          </a:prstGeom>
          <a:solidFill>
            <a:srgbClr val="F8FAFC"/>
          </a:solidFill>
          <a:ln w="12700">
            <a:solidFill>
              <a:srgbClr val="E2E8F0"/>
            </a:solidFill>
            <a:prstDash val="solid"/>
          </a:ln>
        </p:spPr>
      </p:sp>
      <p:sp>
        <p:nvSpPr>
          <p:cNvPr id="15" name="Text 13"/>
          <p:cNvSpPr/>
          <p:nvPr/>
        </p:nvSpPr>
        <p:spPr>
          <a:xfrm>
            <a:off x="393192" y="2350008"/>
            <a:ext cx="2377440" cy="256032"/>
          </a:xfrm>
          <a:prstGeom prst="rect">
            <a:avLst/>
          </a:prstGeom>
          <a:noFill/>
          <a:ln/>
        </p:spPr>
        <p:txBody>
          <a:bodyPr wrap="square" rtlCol="0" anchor="ctr"/>
          <a:lstStyle/>
          <a:p>
            <a:pPr marL="0" indent="0">
              <a:buNone/>
            </a:pPr>
            <a:r>
              <a:rPr lang="en-US" sz="950" b="1" dirty="0">
                <a:solidFill>
                  <a:srgbClr val="1E293B"/>
                </a:solidFill>
              </a:rPr>
              <a:t>Isolated Data Silos</a:t>
            </a:r>
            <a:endParaRPr lang="en-US" sz="950" dirty="0"/>
          </a:p>
        </p:txBody>
      </p:sp>
      <p:sp>
        <p:nvSpPr>
          <p:cNvPr id="16" name="Text 14"/>
          <p:cNvSpPr/>
          <p:nvPr/>
        </p:nvSpPr>
        <p:spPr>
          <a:xfrm>
            <a:off x="393192" y="2624328"/>
            <a:ext cx="2377440" cy="594360"/>
          </a:xfrm>
          <a:prstGeom prst="rect">
            <a:avLst/>
          </a:prstGeom>
          <a:noFill/>
          <a:ln/>
        </p:spPr>
        <p:txBody>
          <a:bodyPr wrap="square" rtlCol="0" anchor="ctr"/>
          <a:lstStyle/>
          <a:p>
            <a:pPr marL="0" indent="0">
              <a:buNone/>
            </a:pPr>
            <a:r>
              <a:rPr lang="en-US" sz="850" dirty="0">
                <a:solidFill>
                  <a:srgbClr val="64748B"/>
                </a:solidFill>
              </a:rPr>
              <a:t>Financial institutions exist in strictly isolated, non-communicative data silos.</a:t>
            </a:r>
            <a:endParaRPr lang="en-US" sz="850" dirty="0"/>
          </a:p>
        </p:txBody>
      </p:sp>
      <p:sp>
        <p:nvSpPr>
          <p:cNvPr id="17" name="Shape 15"/>
          <p:cNvSpPr/>
          <p:nvPr/>
        </p:nvSpPr>
        <p:spPr>
          <a:xfrm>
            <a:off x="3172968" y="2240280"/>
            <a:ext cx="2715768" cy="1097280"/>
          </a:xfrm>
          <a:prstGeom prst="rect">
            <a:avLst/>
          </a:prstGeom>
          <a:solidFill>
            <a:srgbClr val="F8FAFC"/>
          </a:solidFill>
          <a:ln w="12700">
            <a:solidFill>
              <a:srgbClr val="E2E8F0"/>
            </a:solidFill>
            <a:prstDash val="solid"/>
          </a:ln>
        </p:spPr>
      </p:sp>
      <p:sp>
        <p:nvSpPr>
          <p:cNvPr id="18" name="Text 16"/>
          <p:cNvSpPr/>
          <p:nvPr/>
        </p:nvSpPr>
        <p:spPr>
          <a:xfrm>
            <a:off x="3337560" y="2350008"/>
            <a:ext cx="2377440" cy="256032"/>
          </a:xfrm>
          <a:prstGeom prst="rect">
            <a:avLst/>
          </a:prstGeom>
          <a:noFill/>
          <a:ln/>
        </p:spPr>
        <p:txBody>
          <a:bodyPr wrap="square" rtlCol="0" anchor="ctr"/>
          <a:lstStyle/>
          <a:p>
            <a:pPr marL="0" indent="0">
              <a:buNone/>
            </a:pPr>
            <a:r>
              <a:rPr lang="en-US" sz="950" b="1" dirty="0">
                <a:solidFill>
                  <a:srgbClr val="1E293B"/>
                </a:solidFill>
              </a:rPr>
              <a:t>Cross-Border Restrictions</a:t>
            </a:r>
            <a:endParaRPr lang="en-US" sz="950" dirty="0"/>
          </a:p>
        </p:txBody>
      </p:sp>
      <p:sp>
        <p:nvSpPr>
          <p:cNvPr id="19" name="Text 17"/>
          <p:cNvSpPr/>
          <p:nvPr/>
        </p:nvSpPr>
        <p:spPr>
          <a:xfrm>
            <a:off x="3337560" y="2624328"/>
            <a:ext cx="2377440" cy="594360"/>
          </a:xfrm>
          <a:prstGeom prst="rect">
            <a:avLst/>
          </a:prstGeom>
          <a:noFill/>
          <a:ln/>
        </p:spPr>
        <p:txBody>
          <a:bodyPr wrap="square" rtlCol="0" anchor="ctr"/>
          <a:lstStyle/>
          <a:p>
            <a:pPr marL="0" indent="0">
              <a:buNone/>
            </a:pPr>
            <a:r>
              <a:rPr lang="en-US" sz="850" dirty="0">
                <a:solidFill>
                  <a:srgbClr val="64748B"/>
                </a:solidFill>
              </a:rPr>
              <a:t>Limited data sharing due to local privacy policies and sovereign regulatory restrictions.</a:t>
            </a:r>
            <a:endParaRPr lang="en-US" sz="850" dirty="0"/>
          </a:p>
        </p:txBody>
      </p:sp>
      <p:sp>
        <p:nvSpPr>
          <p:cNvPr id="20" name="Shape 18"/>
          <p:cNvSpPr/>
          <p:nvPr/>
        </p:nvSpPr>
        <p:spPr>
          <a:xfrm>
            <a:off x="6117336" y="2240280"/>
            <a:ext cx="2715768" cy="1097280"/>
          </a:xfrm>
          <a:prstGeom prst="rect">
            <a:avLst/>
          </a:prstGeom>
          <a:solidFill>
            <a:srgbClr val="F8FAFC"/>
          </a:solidFill>
          <a:ln w="12700">
            <a:solidFill>
              <a:srgbClr val="E2E8F0"/>
            </a:solidFill>
            <a:prstDash val="solid"/>
          </a:ln>
        </p:spPr>
      </p:sp>
      <p:sp>
        <p:nvSpPr>
          <p:cNvPr id="21" name="Text 19"/>
          <p:cNvSpPr/>
          <p:nvPr/>
        </p:nvSpPr>
        <p:spPr>
          <a:xfrm>
            <a:off x="6281928" y="2350008"/>
            <a:ext cx="2377440" cy="256032"/>
          </a:xfrm>
          <a:prstGeom prst="rect">
            <a:avLst/>
          </a:prstGeom>
          <a:noFill/>
          <a:ln/>
        </p:spPr>
        <p:txBody>
          <a:bodyPr wrap="square" rtlCol="0" anchor="ctr"/>
          <a:lstStyle/>
          <a:p>
            <a:pPr marL="0" indent="0">
              <a:buNone/>
            </a:pPr>
            <a:r>
              <a:rPr lang="en-US" sz="950" b="1" dirty="0">
                <a:solidFill>
                  <a:srgbClr val="1E293B"/>
                </a:solidFill>
              </a:rPr>
              <a:t>Post-Analysis Auditing</a:t>
            </a:r>
            <a:endParaRPr lang="en-US" sz="950" dirty="0"/>
          </a:p>
        </p:txBody>
      </p:sp>
      <p:sp>
        <p:nvSpPr>
          <p:cNvPr id="22" name="Text 20"/>
          <p:cNvSpPr/>
          <p:nvPr/>
        </p:nvSpPr>
        <p:spPr>
          <a:xfrm>
            <a:off x="6281928" y="2624328"/>
            <a:ext cx="2377440" cy="594360"/>
          </a:xfrm>
          <a:prstGeom prst="rect">
            <a:avLst/>
          </a:prstGeom>
          <a:noFill/>
          <a:ln/>
        </p:spPr>
        <p:txBody>
          <a:bodyPr wrap="square" rtlCol="0" anchor="ctr"/>
          <a:lstStyle/>
          <a:p>
            <a:pPr marL="0" indent="0">
              <a:buNone/>
            </a:pPr>
            <a:r>
              <a:rPr lang="en-US" sz="850" dirty="0">
                <a:solidFill>
                  <a:srgbClr val="64748B"/>
                </a:solidFill>
              </a:rPr>
              <a:t>Fraud detection occurs post-analysis—long after the suspicious transaction has cleared.</a:t>
            </a:r>
            <a:endParaRPr lang="en-US" sz="850" dirty="0"/>
          </a:p>
        </p:txBody>
      </p:sp>
      <p:sp>
        <p:nvSpPr>
          <p:cNvPr id="23" name="Shape 21"/>
          <p:cNvSpPr/>
          <p:nvPr/>
        </p:nvSpPr>
        <p:spPr>
          <a:xfrm>
            <a:off x="228600" y="3429000"/>
            <a:ext cx="2715768" cy="1097280"/>
          </a:xfrm>
          <a:prstGeom prst="rect">
            <a:avLst/>
          </a:prstGeom>
          <a:solidFill>
            <a:srgbClr val="F8FAFC"/>
          </a:solidFill>
          <a:ln w="12700">
            <a:solidFill>
              <a:srgbClr val="E2E8F0"/>
            </a:solidFill>
            <a:prstDash val="solid"/>
          </a:ln>
        </p:spPr>
      </p:sp>
      <p:sp>
        <p:nvSpPr>
          <p:cNvPr id="24" name="Text 22"/>
          <p:cNvSpPr/>
          <p:nvPr/>
        </p:nvSpPr>
        <p:spPr>
          <a:xfrm>
            <a:off x="393192" y="3538728"/>
            <a:ext cx="2377440" cy="256032"/>
          </a:xfrm>
          <a:prstGeom prst="rect">
            <a:avLst/>
          </a:prstGeom>
          <a:noFill/>
          <a:ln/>
        </p:spPr>
        <p:txBody>
          <a:bodyPr wrap="square" rtlCol="0" anchor="ctr"/>
          <a:lstStyle/>
          <a:p>
            <a:pPr marL="0" indent="0">
              <a:buNone/>
            </a:pPr>
            <a:r>
              <a:rPr lang="en-US" sz="950" b="1" dirty="0">
                <a:solidFill>
                  <a:srgbClr val="1E293B"/>
                </a:solidFill>
              </a:rPr>
              <a:t>Layering &amp; Shell Web Obfuscation</a:t>
            </a:r>
            <a:endParaRPr lang="en-US" sz="950" dirty="0"/>
          </a:p>
        </p:txBody>
      </p:sp>
      <p:sp>
        <p:nvSpPr>
          <p:cNvPr id="25" name="Text 23"/>
          <p:cNvSpPr/>
          <p:nvPr/>
        </p:nvSpPr>
        <p:spPr>
          <a:xfrm>
            <a:off x="393192" y="3813048"/>
            <a:ext cx="2377440" cy="594360"/>
          </a:xfrm>
          <a:prstGeom prst="rect">
            <a:avLst/>
          </a:prstGeom>
          <a:noFill/>
          <a:ln/>
        </p:spPr>
        <p:txBody>
          <a:bodyPr wrap="square" rtlCol="0" anchor="ctr"/>
          <a:lstStyle/>
          <a:p>
            <a:pPr marL="0" indent="0">
              <a:buNone/>
            </a:pPr>
            <a:r>
              <a:rPr lang="en-US" sz="850" dirty="0">
                <a:solidFill>
                  <a:srgbClr val="64748B"/>
                </a:solidFill>
              </a:rPr>
              <a:t>Criminal networks utilize complex layering and shell companies to hide money flow.</a:t>
            </a:r>
            <a:endParaRPr lang="en-US" sz="850" dirty="0"/>
          </a:p>
        </p:txBody>
      </p:sp>
      <p:sp>
        <p:nvSpPr>
          <p:cNvPr id="26" name="Shape 24"/>
          <p:cNvSpPr/>
          <p:nvPr/>
        </p:nvSpPr>
        <p:spPr>
          <a:xfrm>
            <a:off x="3172968" y="3429000"/>
            <a:ext cx="2715768" cy="1097280"/>
          </a:xfrm>
          <a:prstGeom prst="rect">
            <a:avLst/>
          </a:prstGeom>
          <a:solidFill>
            <a:srgbClr val="F8FAFC"/>
          </a:solidFill>
          <a:ln w="12700">
            <a:solidFill>
              <a:srgbClr val="E2E8F0"/>
            </a:solidFill>
            <a:prstDash val="solid"/>
          </a:ln>
        </p:spPr>
      </p:sp>
      <p:sp>
        <p:nvSpPr>
          <p:cNvPr id="27" name="Text 25"/>
          <p:cNvSpPr/>
          <p:nvPr/>
        </p:nvSpPr>
        <p:spPr>
          <a:xfrm>
            <a:off x="3337560" y="3538728"/>
            <a:ext cx="2377440" cy="256032"/>
          </a:xfrm>
          <a:prstGeom prst="rect">
            <a:avLst/>
          </a:prstGeom>
          <a:noFill/>
          <a:ln/>
        </p:spPr>
        <p:txBody>
          <a:bodyPr wrap="square" rtlCol="0" anchor="ctr"/>
          <a:lstStyle/>
          <a:p>
            <a:pPr marL="0" indent="0">
              <a:buNone/>
            </a:pPr>
            <a:r>
              <a:rPr lang="en-US" sz="950" b="1" dirty="0">
                <a:solidFill>
                  <a:srgbClr val="1E293B"/>
                </a:solidFill>
              </a:rPr>
              <a:t>High False-Positive Fatigue</a:t>
            </a:r>
            <a:endParaRPr lang="en-US" sz="950" dirty="0"/>
          </a:p>
        </p:txBody>
      </p:sp>
      <p:sp>
        <p:nvSpPr>
          <p:cNvPr id="28" name="Text 26"/>
          <p:cNvSpPr/>
          <p:nvPr/>
        </p:nvSpPr>
        <p:spPr>
          <a:xfrm>
            <a:off x="3337560" y="3813048"/>
            <a:ext cx="2377440" cy="594360"/>
          </a:xfrm>
          <a:prstGeom prst="rect">
            <a:avLst/>
          </a:prstGeom>
          <a:noFill/>
          <a:ln/>
        </p:spPr>
        <p:txBody>
          <a:bodyPr wrap="square" rtlCol="0" anchor="ctr"/>
          <a:lstStyle/>
          <a:p>
            <a:pPr marL="0" indent="0">
              <a:buNone/>
            </a:pPr>
            <a:r>
              <a:rPr lang="en-US" sz="850" dirty="0">
                <a:solidFill>
                  <a:srgbClr val="64748B"/>
                </a:solidFill>
              </a:rPr>
              <a:t>AML alerting generates massive false positives while missing true fraud cases.</a:t>
            </a:r>
            <a:endParaRPr lang="en-US" sz="850" dirty="0"/>
          </a:p>
        </p:txBody>
      </p:sp>
      <p:sp>
        <p:nvSpPr>
          <p:cNvPr id="29" name="Shape 27"/>
          <p:cNvSpPr/>
          <p:nvPr/>
        </p:nvSpPr>
        <p:spPr>
          <a:xfrm>
            <a:off x="6117336" y="3429000"/>
            <a:ext cx="2715768" cy="1097280"/>
          </a:xfrm>
          <a:prstGeom prst="rect">
            <a:avLst/>
          </a:prstGeom>
          <a:solidFill>
            <a:srgbClr val="F8FAFC"/>
          </a:solidFill>
          <a:ln w="12700">
            <a:solidFill>
              <a:srgbClr val="E2E8F0"/>
            </a:solidFill>
            <a:prstDash val="solid"/>
          </a:ln>
        </p:spPr>
      </p:sp>
      <p:sp>
        <p:nvSpPr>
          <p:cNvPr id="30" name="Text 28"/>
          <p:cNvSpPr/>
          <p:nvPr/>
        </p:nvSpPr>
        <p:spPr>
          <a:xfrm>
            <a:off x="6281928" y="3538728"/>
            <a:ext cx="2377440" cy="256032"/>
          </a:xfrm>
          <a:prstGeom prst="rect">
            <a:avLst/>
          </a:prstGeom>
          <a:noFill/>
          <a:ln/>
        </p:spPr>
        <p:txBody>
          <a:bodyPr wrap="square" rtlCol="0" anchor="ctr"/>
          <a:lstStyle/>
          <a:p>
            <a:pPr marL="0" indent="0">
              <a:buNone/>
            </a:pPr>
            <a:r>
              <a:rPr lang="en-US" sz="950" b="1" dirty="0">
                <a:solidFill>
                  <a:srgbClr val="1E293B"/>
                </a:solidFill>
              </a:rPr>
              <a:t>Delayed Reporting Pipeline</a:t>
            </a:r>
            <a:endParaRPr lang="en-US" sz="950" dirty="0"/>
          </a:p>
        </p:txBody>
      </p:sp>
      <p:sp>
        <p:nvSpPr>
          <p:cNvPr id="31" name="Text 29"/>
          <p:cNvSpPr/>
          <p:nvPr/>
        </p:nvSpPr>
        <p:spPr>
          <a:xfrm>
            <a:off x="6281928" y="3813048"/>
            <a:ext cx="2377440" cy="594360"/>
          </a:xfrm>
          <a:prstGeom prst="rect">
            <a:avLst/>
          </a:prstGeom>
          <a:noFill/>
          <a:ln/>
        </p:spPr>
        <p:txBody>
          <a:bodyPr wrap="square" rtlCol="0" anchor="ctr"/>
          <a:lstStyle/>
          <a:p>
            <a:pPr marL="0" indent="0">
              <a:buNone/>
            </a:pPr>
            <a:r>
              <a:rPr lang="en-US" sz="850" dirty="0">
                <a:solidFill>
                  <a:srgbClr val="64748B"/>
                </a:solidFill>
              </a:rPr>
              <a:t>Slow reporting cycles give criminals time to route funds out of jurisdiction before detection.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9F1239"/>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9F1239"/>
                </a:solidFill>
              </a:rPr>
              <a:t>LEGACY PIPELINE</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200" b="1" dirty="0">
                <a:solidFill>
                  <a:srgbClr val="1E293B"/>
                </a:solidFill>
              </a:rPr>
              <a:t>Current AML/CFT System &amp; Loopholes</a:t>
            </a:r>
            <a:endParaRPr lang="en-US" sz="2200" dirty="0"/>
          </a:p>
        </p:txBody>
      </p:sp>
      <p:sp>
        <p:nvSpPr>
          <p:cNvPr id="5" name="Shape 3"/>
          <p:cNvSpPr/>
          <p:nvPr/>
        </p:nvSpPr>
        <p:spPr>
          <a:xfrm>
            <a:off x="228600" y="1051560"/>
            <a:ext cx="4160520" cy="3840480"/>
          </a:xfrm>
          <a:prstGeom prst="rect">
            <a:avLst/>
          </a:prstGeom>
          <a:solidFill>
            <a:srgbClr val="FFFFFF"/>
          </a:solidFill>
          <a:ln w="12700">
            <a:solidFill>
              <a:srgbClr val="E2E8F0"/>
            </a:solidFill>
            <a:prstDash val="solid"/>
          </a:ln>
        </p:spPr>
      </p:sp>
      <p:sp>
        <p:nvSpPr>
          <p:cNvPr id="6" name="Text 4"/>
          <p:cNvSpPr/>
          <p:nvPr/>
        </p:nvSpPr>
        <p:spPr>
          <a:xfrm>
            <a:off x="411480" y="1188720"/>
            <a:ext cx="3794760" cy="256032"/>
          </a:xfrm>
          <a:prstGeom prst="rect">
            <a:avLst/>
          </a:prstGeom>
          <a:noFill/>
          <a:ln/>
        </p:spPr>
        <p:txBody>
          <a:bodyPr wrap="square" rtlCol="0" anchor="ctr"/>
          <a:lstStyle/>
          <a:p>
            <a:pPr marL="0" indent="0">
              <a:buNone/>
            </a:pPr>
            <a:r>
              <a:rPr lang="en-US" sz="900" b="1" kern="0" spc="100" dirty="0">
                <a:solidFill>
                  <a:srgbClr val="9F1239"/>
                </a:solidFill>
              </a:rPr>
              <a:t>CURRENT SYSTEM MECHANICS</a:t>
            </a:r>
            <a:endParaRPr lang="en-US" sz="900" dirty="0"/>
          </a:p>
        </p:txBody>
      </p:sp>
      <p:sp>
        <p:nvSpPr>
          <p:cNvPr id="7" name="Text 5"/>
          <p:cNvSpPr/>
          <p:nvPr/>
        </p:nvSpPr>
        <p:spPr>
          <a:xfrm>
            <a:off x="411480" y="1508760"/>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Banks operate in separate, centralized systems.</a:t>
            </a:r>
            <a:endParaRPr lang="en-US" sz="850" dirty="0"/>
          </a:p>
        </p:txBody>
      </p:sp>
      <p:sp>
        <p:nvSpPr>
          <p:cNvPr id="8" name="Text 6"/>
          <p:cNvSpPr/>
          <p:nvPr/>
        </p:nvSpPr>
        <p:spPr>
          <a:xfrm>
            <a:off x="411480" y="1856232"/>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No global shared transaction database between banking networks.</a:t>
            </a:r>
            <a:endParaRPr lang="en-US" sz="850" dirty="0"/>
          </a:p>
        </p:txBody>
      </p:sp>
      <p:sp>
        <p:nvSpPr>
          <p:cNvPr id="9" name="Text 7"/>
          <p:cNvSpPr/>
          <p:nvPr/>
        </p:nvSpPr>
        <p:spPr>
          <a:xfrm>
            <a:off x="411480" y="2203704"/>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International transfers rely on SWIFT messaging (communication-only, no tracking).</a:t>
            </a:r>
            <a:endParaRPr lang="en-US" sz="850" dirty="0"/>
          </a:p>
        </p:txBody>
      </p:sp>
      <p:sp>
        <p:nvSpPr>
          <p:cNvPr id="10" name="Text 8"/>
          <p:cNvSpPr/>
          <p:nvPr/>
        </p:nvSpPr>
        <p:spPr>
          <a:xfrm>
            <a:off x="411480" y="2551176"/>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AML architectures are mostly rule-based and threshold-based.</a:t>
            </a:r>
            <a:endParaRPr lang="en-US" sz="850" dirty="0"/>
          </a:p>
        </p:txBody>
      </p:sp>
      <p:sp>
        <p:nvSpPr>
          <p:cNvPr id="11" name="Text 9"/>
          <p:cNvSpPr/>
          <p:nvPr/>
        </p:nvSpPr>
        <p:spPr>
          <a:xfrm>
            <a:off x="411480" y="2898648"/>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Surveillance is limited to historical patterns and past fraud profiles.</a:t>
            </a:r>
            <a:endParaRPr lang="en-US" sz="850" dirty="0"/>
          </a:p>
        </p:txBody>
      </p:sp>
      <p:sp>
        <p:nvSpPr>
          <p:cNvPr id="12" name="Text 10"/>
          <p:cNvSpPr/>
          <p:nvPr/>
        </p:nvSpPr>
        <p:spPr>
          <a:xfrm>
            <a:off x="411480" y="3246120"/>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Suspicious Activity Reports (SARs) generated after transactions clear.</a:t>
            </a:r>
            <a:endParaRPr lang="en-US" sz="850" dirty="0"/>
          </a:p>
        </p:txBody>
      </p:sp>
      <p:sp>
        <p:nvSpPr>
          <p:cNvPr id="13" name="Text 11"/>
          <p:cNvSpPr/>
          <p:nvPr/>
        </p:nvSpPr>
        <p:spPr>
          <a:xfrm>
            <a:off x="411480" y="3593592"/>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Processes are fundamentally post-transaction (reactive model).</a:t>
            </a:r>
            <a:endParaRPr lang="en-US" sz="850" dirty="0"/>
          </a:p>
        </p:txBody>
      </p:sp>
      <p:sp>
        <p:nvSpPr>
          <p:cNvPr id="14" name="Text 12"/>
          <p:cNvSpPr/>
          <p:nvPr/>
        </p:nvSpPr>
        <p:spPr>
          <a:xfrm>
            <a:off x="411480" y="3941064"/>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Data sharing extremely constrained due to regulations and privacy laws.</a:t>
            </a:r>
            <a:endParaRPr lang="en-US" sz="850" dirty="0"/>
          </a:p>
        </p:txBody>
      </p:sp>
      <p:sp>
        <p:nvSpPr>
          <p:cNvPr id="15" name="Text 13"/>
          <p:cNvSpPr/>
          <p:nvPr/>
        </p:nvSpPr>
        <p:spPr>
          <a:xfrm>
            <a:off x="411480" y="4288536"/>
            <a:ext cx="3840480" cy="329184"/>
          </a:xfrm>
          <a:prstGeom prst="rect">
            <a:avLst/>
          </a:prstGeom>
          <a:noFill/>
          <a:ln/>
        </p:spPr>
        <p:txBody>
          <a:bodyPr wrap="square" rtlCol="0" anchor="ctr"/>
          <a:lstStyle/>
          <a:p>
            <a:pPr marL="342900" indent="-342900">
              <a:buSzPct val="100000"/>
              <a:buChar char="•"/>
            </a:pPr>
            <a:r>
              <a:rPr lang="en-US" sz="850" dirty="0">
                <a:solidFill>
                  <a:srgbClr val="64748B"/>
                </a:solidFill>
              </a:rPr>
              <a:t>Total lack of real-time visibility on end-to-end multi-bank flows.</a:t>
            </a:r>
            <a:endParaRPr lang="en-US" sz="850" dirty="0"/>
          </a:p>
        </p:txBody>
      </p:sp>
      <p:sp>
        <p:nvSpPr>
          <p:cNvPr id="16" name="Shape 14"/>
          <p:cNvSpPr/>
          <p:nvPr/>
        </p:nvSpPr>
        <p:spPr>
          <a:xfrm>
            <a:off x="4663440" y="1051560"/>
            <a:ext cx="4251960" cy="3840480"/>
          </a:xfrm>
          <a:prstGeom prst="rect">
            <a:avLst/>
          </a:prstGeom>
          <a:solidFill>
            <a:srgbClr val="FFFFFF"/>
          </a:solidFill>
          <a:ln w="12700">
            <a:solidFill>
              <a:srgbClr val="E2E8F0"/>
            </a:solidFill>
            <a:prstDash val="solid"/>
          </a:ln>
        </p:spPr>
      </p:sp>
      <p:sp>
        <p:nvSpPr>
          <p:cNvPr id="17" name="Text 15"/>
          <p:cNvSpPr/>
          <p:nvPr/>
        </p:nvSpPr>
        <p:spPr>
          <a:xfrm>
            <a:off x="4846320" y="1188720"/>
            <a:ext cx="3886200" cy="256032"/>
          </a:xfrm>
          <a:prstGeom prst="rect">
            <a:avLst/>
          </a:prstGeom>
          <a:noFill/>
          <a:ln/>
        </p:spPr>
        <p:txBody>
          <a:bodyPr wrap="square" rtlCol="0" anchor="ctr"/>
          <a:lstStyle/>
          <a:p>
            <a:pPr marL="0" indent="0">
              <a:buNone/>
            </a:pPr>
            <a:r>
              <a:rPr lang="en-US" sz="900" b="1" kern="0" spc="100" dirty="0">
                <a:solidFill>
                  <a:srgbClr val="DC2626"/>
                </a:solidFill>
              </a:rPr>
              <a:t>LOOPHOLES IN CURRENT SYSTEM</a:t>
            </a:r>
            <a:endParaRPr lang="en-US" sz="900" dirty="0"/>
          </a:p>
        </p:txBody>
      </p:sp>
      <p:sp>
        <p:nvSpPr>
          <p:cNvPr id="18" name="Text 16"/>
          <p:cNvSpPr/>
          <p:nvPr/>
        </p:nvSpPr>
        <p:spPr>
          <a:xfrm>
            <a:off x="4846320" y="1508760"/>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Lack of real-time transaction monitoring frameworks.</a:t>
            </a:r>
            <a:endParaRPr lang="en-US" sz="850" dirty="0"/>
          </a:p>
        </p:txBody>
      </p:sp>
      <p:sp>
        <p:nvSpPr>
          <p:cNvPr id="19" name="Text 17"/>
          <p:cNvSpPr/>
          <p:nvPr/>
        </p:nvSpPr>
        <p:spPr>
          <a:xfrm>
            <a:off x="4846320" y="1837944"/>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No unified global AML database or shared ledger.</a:t>
            </a:r>
            <a:endParaRPr lang="en-US" sz="850" dirty="0"/>
          </a:p>
        </p:txBody>
      </p:sp>
      <p:sp>
        <p:nvSpPr>
          <p:cNvPr id="20" name="Text 18"/>
          <p:cNvSpPr/>
          <p:nvPr/>
        </p:nvSpPr>
        <p:spPr>
          <a:xfrm>
            <a:off x="4846320" y="2167128"/>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Financial institutions operate in isolated data silos.</a:t>
            </a:r>
            <a:endParaRPr lang="en-US" sz="850" dirty="0"/>
          </a:p>
        </p:txBody>
      </p:sp>
      <p:sp>
        <p:nvSpPr>
          <p:cNvPr id="21" name="Text 19"/>
          <p:cNvSpPr/>
          <p:nvPr/>
        </p:nvSpPr>
        <p:spPr>
          <a:xfrm>
            <a:off x="4846320" y="2496312"/>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Weak cross-border transaction visibility and coordination.</a:t>
            </a:r>
            <a:endParaRPr lang="en-US" sz="850" dirty="0"/>
          </a:p>
        </p:txBody>
      </p:sp>
      <p:sp>
        <p:nvSpPr>
          <p:cNvPr id="22" name="Text 20"/>
          <p:cNvSpPr/>
          <p:nvPr/>
        </p:nvSpPr>
        <p:spPr>
          <a:xfrm>
            <a:off x="4846320" y="2825496"/>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Heavy operational dependency on manual reporting and audits.</a:t>
            </a:r>
            <a:endParaRPr lang="en-US" sz="850" dirty="0"/>
          </a:p>
        </p:txBody>
      </p:sp>
      <p:sp>
        <p:nvSpPr>
          <p:cNvPr id="23" name="Text 21"/>
          <p:cNvSpPr/>
          <p:nvPr/>
        </p:nvSpPr>
        <p:spPr>
          <a:xfrm>
            <a:off x="4846320" y="3154680"/>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Delayed detection of highly suspicious financial activities.</a:t>
            </a:r>
            <a:endParaRPr lang="en-US" sz="850" dirty="0"/>
          </a:p>
        </p:txBody>
      </p:sp>
      <p:sp>
        <p:nvSpPr>
          <p:cNvPr id="24" name="Text 22"/>
          <p:cNvSpPr/>
          <p:nvPr/>
        </p:nvSpPr>
        <p:spPr>
          <a:xfrm>
            <a:off x="4846320" y="3483864"/>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Criminals exploit layering and multiple intermediary accounts.</a:t>
            </a:r>
            <a:endParaRPr lang="en-US" sz="850" dirty="0"/>
          </a:p>
        </p:txBody>
      </p:sp>
      <p:sp>
        <p:nvSpPr>
          <p:cNvPr id="25" name="Text 23"/>
          <p:cNvSpPr/>
          <p:nvPr/>
        </p:nvSpPr>
        <p:spPr>
          <a:xfrm>
            <a:off x="4846320" y="3813048"/>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Static systems fail to detect modern and complex fraud patterns.</a:t>
            </a:r>
            <a:endParaRPr lang="en-US" sz="850" dirty="0"/>
          </a:p>
        </p:txBody>
      </p:sp>
      <p:sp>
        <p:nvSpPr>
          <p:cNvPr id="26" name="Text 24"/>
          <p:cNvSpPr/>
          <p:nvPr/>
        </p:nvSpPr>
        <p:spPr>
          <a:xfrm>
            <a:off x="4846320" y="4142232"/>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High dependency on historical data (completely non-adaptive).</a:t>
            </a:r>
            <a:endParaRPr lang="en-US" sz="850" dirty="0"/>
          </a:p>
        </p:txBody>
      </p:sp>
      <p:sp>
        <p:nvSpPr>
          <p:cNvPr id="27" name="Text 25"/>
          <p:cNvSpPr/>
          <p:nvPr/>
        </p:nvSpPr>
        <p:spPr>
          <a:xfrm>
            <a:off x="4846320" y="4471416"/>
            <a:ext cx="3931920" cy="310896"/>
          </a:xfrm>
          <a:prstGeom prst="rect">
            <a:avLst/>
          </a:prstGeom>
          <a:noFill/>
          <a:ln/>
        </p:spPr>
        <p:txBody>
          <a:bodyPr wrap="square" rtlCol="0" anchor="ctr"/>
          <a:lstStyle/>
          <a:p>
            <a:pPr marL="342900" indent="-342900">
              <a:buSzPct val="100000"/>
              <a:buChar char="•"/>
            </a:pPr>
            <a:r>
              <a:rPr lang="en-US" sz="850" dirty="0">
                <a:solidFill>
                  <a:srgbClr val="64748B"/>
                </a:solidFill>
              </a:rPr>
              <a:t>Limited transparency in end-to-end money flow tracking.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563EB"/>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2563EB"/>
                </a:solidFill>
              </a:rPr>
              <a:t>PROPOSED TECH</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000" b="1" dirty="0">
                <a:solidFill>
                  <a:srgbClr val="1E293B"/>
                </a:solidFill>
              </a:rPr>
              <a:t>Proposed Blockchain-Based AML/CFT System</a:t>
            </a:r>
            <a:endParaRPr lang="en-US" sz="2000" dirty="0"/>
          </a:p>
        </p:txBody>
      </p:sp>
      <p:sp>
        <p:nvSpPr>
          <p:cNvPr id="5" name="Shape 3"/>
          <p:cNvSpPr/>
          <p:nvPr/>
        </p:nvSpPr>
        <p:spPr>
          <a:xfrm>
            <a:off x="228600" y="1051560"/>
            <a:ext cx="3474720" cy="3840480"/>
          </a:xfrm>
          <a:prstGeom prst="rect">
            <a:avLst/>
          </a:prstGeom>
          <a:solidFill>
            <a:srgbClr val="FFFFFF"/>
          </a:solidFill>
          <a:ln w="12700">
            <a:solidFill>
              <a:srgbClr val="E2E8F0"/>
            </a:solidFill>
            <a:prstDash val="solid"/>
          </a:ln>
        </p:spPr>
      </p:sp>
      <p:sp>
        <p:nvSpPr>
          <p:cNvPr id="6" name="Text 4"/>
          <p:cNvSpPr/>
          <p:nvPr/>
        </p:nvSpPr>
        <p:spPr>
          <a:xfrm>
            <a:off x="411480" y="1188720"/>
            <a:ext cx="3108960" cy="228600"/>
          </a:xfrm>
          <a:prstGeom prst="rect">
            <a:avLst/>
          </a:prstGeom>
          <a:noFill/>
          <a:ln/>
        </p:spPr>
        <p:txBody>
          <a:bodyPr wrap="square" rtlCol="0" anchor="ctr"/>
          <a:lstStyle/>
          <a:p>
            <a:pPr marL="0" indent="0">
              <a:buNone/>
            </a:pPr>
            <a:r>
              <a:rPr lang="en-US" sz="850" b="1" kern="0" spc="100" dirty="0">
                <a:solidFill>
                  <a:srgbClr val="2563EB"/>
                </a:solidFill>
              </a:rPr>
              <a:t>SYSTEM SPECS</a:t>
            </a:r>
            <a:endParaRPr lang="en-US" sz="850" dirty="0"/>
          </a:p>
        </p:txBody>
      </p:sp>
      <p:sp>
        <p:nvSpPr>
          <p:cNvPr id="7" name="Text 5"/>
          <p:cNvSpPr/>
          <p:nvPr/>
        </p:nvSpPr>
        <p:spPr>
          <a:xfrm>
            <a:off x="411480" y="1481328"/>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A permissioned blockchain network connecting banks, financial institutions, and regulators.</a:t>
            </a:r>
            <a:endParaRPr lang="en-US" sz="850" dirty="0"/>
          </a:p>
        </p:txBody>
      </p:sp>
      <p:sp>
        <p:nvSpPr>
          <p:cNvPr id="8" name="Text 6"/>
          <p:cNvSpPr/>
          <p:nvPr/>
        </p:nvSpPr>
        <p:spPr>
          <a:xfrm>
            <a:off x="411480" y="1819656"/>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All transactions recorded in a shared distributed ledger.</a:t>
            </a:r>
            <a:endParaRPr lang="en-US" sz="850" dirty="0"/>
          </a:p>
        </p:txBody>
      </p:sp>
      <p:sp>
        <p:nvSpPr>
          <p:cNvPr id="9" name="Text 7"/>
          <p:cNvSpPr/>
          <p:nvPr/>
        </p:nvSpPr>
        <p:spPr>
          <a:xfrm>
            <a:off x="411480" y="2157984"/>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Enables real-time visibility of financial transactions across institutions.</a:t>
            </a:r>
            <a:endParaRPr lang="en-US" sz="850" dirty="0"/>
          </a:p>
        </p:txBody>
      </p:sp>
      <p:sp>
        <p:nvSpPr>
          <p:cNvPr id="10" name="Text 8"/>
          <p:cNvSpPr/>
          <p:nvPr/>
        </p:nvSpPr>
        <p:spPr>
          <a:xfrm>
            <a:off x="411480" y="2496312"/>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Uses smart contracts to automatically enforce AML rules and policies.</a:t>
            </a:r>
            <a:endParaRPr lang="en-US" sz="850" dirty="0"/>
          </a:p>
        </p:txBody>
      </p:sp>
      <p:sp>
        <p:nvSpPr>
          <p:cNvPr id="11" name="Text 9"/>
          <p:cNvSpPr/>
          <p:nvPr/>
        </p:nvSpPr>
        <p:spPr>
          <a:xfrm>
            <a:off x="411480" y="2834640"/>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Integrates AI/ML models for fraud detection and risk scoring.</a:t>
            </a:r>
            <a:endParaRPr lang="en-US" sz="850" dirty="0"/>
          </a:p>
        </p:txBody>
      </p:sp>
      <p:sp>
        <p:nvSpPr>
          <p:cNvPr id="12" name="Text 10"/>
          <p:cNvSpPr/>
          <p:nvPr/>
        </p:nvSpPr>
        <p:spPr>
          <a:xfrm>
            <a:off x="411480" y="3172968"/>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Provides a tamper-proof and immutable transaction history.</a:t>
            </a:r>
            <a:endParaRPr lang="en-US" sz="850" dirty="0"/>
          </a:p>
        </p:txBody>
      </p:sp>
      <p:sp>
        <p:nvSpPr>
          <p:cNvPr id="13" name="Text 11"/>
          <p:cNvSpPr/>
          <p:nvPr/>
        </p:nvSpPr>
        <p:spPr>
          <a:xfrm>
            <a:off x="411480" y="3511296"/>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Enables cross-border transaction traceability in real time.</a:t>
            </a:r>
            <a:endParaRPr lang="en-US" sz="850" dirty="0"/>
          </a:p>
        </p:txBody>
      </p:sp>
      <p:sp>
        <p:nvSpPr>
          <p:cNvPr id="14" name="Text 12"/>
          <p:cNvSpPr/>
          <p:nvPr/>
        </p:nvSpPr>
        <p:spPr>
          <a:xfrm>
            <a:off x="411480" y="3849624"/>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Creates a single trusted source of transaction truth for all participating nodes.</a:t>
            </a:r>
            <a:endParaRPr lang="en-US" sz="850" dirty="0"/>
          </a:p>
        </p:txBody>
      </p:sp>
      <p:sp>
        <p:nvSpPr>
          <p:cNvPr id="15" name="Text 13"/>
          <p:cNvSpPr/>
          <p:nvPr/>
        </p:nvSpPr>
        <p:spPr>
          <a:xfrm>
            <a:off x="411480" y="4187952"/>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Regulators monitor suspicious activity through a central dashboard.</a:t>
            </a:r>
            <a:endParaRPr lang="en-US" sz="850" dirty="0"/>
          </a:p>
        </p:txBody>
      </p:sp>
      <p:sp>
        <p:nvSpPr>
          <p:cNvPr id="16" name="Text 14"/>
          <p:cNvSpPr/>
          <p:nvPr/>
        </p:nvSpPr>
        <p:spPr>
          <a:xfrm>
            <a:off x="411480" y="4526280"/>
            <a:ext cx="3127248" cy="320040"/>
          </a:xfrm>
          <a:prstGeom prst="rect">
            <a:avLst/>
          </a:prstGeom>
          <a:noFill/>
          <a:ln/>
        </p:spPr>
        <p:txBody>
          <a:bodyPr wrap="square" rtlCol="0" anchor="ctr"/>
          <a:lstStyle/>
          <a:p>
            <a:pPr marL="342900" indent="-342900">
              <a:buSzPct val="100000"/>
              <a:buChar char="•"/>
            </a:pPr>
            <a:r>
              <a:rPr lang="en-US" sz="850" dirty="0">
                <a:solidFill>
                  <a:srgbClr val="64748B"/>
                </a:solidFill>
              </a:rPr>
              <a:t>Reduces dependency on post-transaction audits and manual reporting.</a:t>
            </a:r>
            <a:endParaRPr lang="en-US" sz="850" dirty="0"/>
          </a:p>
        </p:txBody>
      </p:sp>
      <p:sp>
        <p:nvSpPr>
          <p:cNvPr id="17" name="Shape 15"/>
          <p:cNvSpPr/>
          <p:nvPr/>
        </p:nvSpPr>
        <p:spPr>
          <a:xfrm>
            <a:off x="3931920" y="1051560"/>
            <a:ext cx="4983480" cy="3840480"/>
          </a:xfrm>
          <a:prstGeom prst="rect">
            <a:avLst/>
          </a:prstGeom>
          <a:solidFill>
            <a:srgbClr val="F8FAFC"/>
          </a:solidFill>
          <a:ln w="12700">
            <a:solidFill>
              <a:srgbClr val="E2E8F0"/>
            </a:solidFill>
            <a:prstDash val="solid"/>
          </a:ln>
        </p:spPr>
      </p:sp>
      <p:sp>
        <p:nvSpPr>
          <p:cNvPr id="18" name="Text 16"/>
          <p:cNvSpPr/>
          <p:nvPr/>
        </p:nvSpPr>
        <p:spPr>
          <a:xfrm>
            <a:off x="4114800" y="1188720"/>
            <a:ext cx="4617720" cy="228600"/>
          </a:xfrm>
          <a:prstGeom prst="rect">
            <a:avLst/>
          </a:prstGeom>
          <a:noFill/>
          <a:ln/>
        </p:spPr>
        <p:txBody>
          <a:bodyPr wrap="square" rtlCol="0" anchor="ctr"/>
          <a:lstStyle/>
          <a:p>
            <a:pPr marL="0" indent="0" algn="ctr">
              <a:buNone/>
            </a:pPr>
            <a:r>
              <a:rPr lang="en-US" sz="800" b="1" kern="0" spc="200" dirty="0">
                <a:solidFill>
                  <a:srgbClr val="64748B"/>
                </a:solidFill>
              </a:rPr>
              <a:t>ORACLE BRIDGE LAYER</a:t>
            </a:r>
            <a:endParaRPr lang="en-US" sz="800" dirty="0"/>
          </a:p>
        </p:txBody>
      </p:sp>
      <p:sp>
        <p:nvSpPr>
          <p:cNvPr id="19" name="Shape 17"/>
          <p:cNvSpPr/>
          <p:nvPr/>
        </p:nvSpPr>
        <p:spPr>
          <a:xfrm>
            <a:off x="4069080" y="1508760"/>
            <a:ext cx="1737360" cy="3200400"/>
          </a:xfrm>
          <a:prstGeom prst="rect">
            <a:avLst/>
          </a:prstGeom>
          <a:solidFill>
            <a:srgbClr val="FFFFFF"/>
          </a:solidFill>
          <a:ln w="19050">
            <a:solidFill>
              <a:srgbClr val="CBD5E1"/>
            </a:solidFill>
            <a:prstDash val="solid"/>
          </a:ln>
        </p:spPr>
      </p:sp>
      <p:sp>
        <p:nvSpPr>
          <p:cNvPr id="20" name="Text 18"/>
          <p:cNvSpPr/>
          <p:nvPr/>
        </p:nvSpPr>
        <p:spPr>
          <a:xfrm>
            <a:off x="4069080" y="1554480"/>
            <a:ext cx="1737360" cy="457200"/>
          </a:xfrm>
          <a:prstGeom prst="rect">
            <a:avLst/>
          </a:prstGeom>
          <a:noFill/>
          <a:ln/>
        </p:spPr>
        <p:txBody>
          <a:bodyPr wrap="square" rtlCol="0" anchor="ctr"/>
          <a:lstStyle/>
          <a:p>
            <a:pPr marL="0" indent="0" algn="ctr">
              <a:buNone/>
            </a:pPr>
            <a:r>
              <a:rPr lang="en-US" sz="700" b="1" dirty="0">
                <a:solidFill>
                  <a:srgbClr val="64748B"/>
                </a:solidFill>
              </a:rPr>
              <a:t>OUTSIDE WORLD</a:t>
            </a:r>
            <a:endParaRPr lang="en-US" sz="700" dirty="0"/>
          </a:p>
          <a:p>
            <a:pPr marL="0" indent="0" algn="ctr">
              <a:buNone/>
            </a:pPr>
            <a:r>
              <a:rPr lang="en-US" sz="700" b="1" dirty="0">
                <a:solidFill>
                  <a:srgbClr val="64748B"/>
                </a:solidFill>
              </a:rPr>
              <a:t>(LEGACY CORPS)</a:t>
            </a:r>
            <a:endParaRPr lang="en-US" sz="700" dirty="0"/>
          </a:p>
        </p:txBody>
      </p:sp>
      <p:sp>
        <p:nvSpPr>
          <p:cNvPr id="21" name="Shape 19"/>
          <p:cNvSpPr/>
          <p:nvPr/>
        </p:nvSpPr>
        <p:spPr>
          <a:xfrm>
            <a:off x="4206240" y="2103120"/>
            <a:ext cx="1463040" cy="548640"/>
          </a:xfrm>
          <a:prstGeom prst="rect">
            <a:avLst/>
          </a:prstGeom>
          <a:solidFill>
            <a:srgbClr val="F8FAFC"/>
          </a:solidFill>
          <a:ln w="12700">
            <a:solidFill>
              <a:srgbClr val="94A3B8"/>
            </a:solidFill>
            <a:prstDash val="solid"/>
          </a:ln>
        </p:spPr>
      </p:sp>
      <p:sp>
        <p:nvSpPr>
          <p:cNvPr id="22" name="Text 20"/>
          <p:cNvSpPr/>
          <p:nvPr/>
        </p:nvSpPr>
        <p:spPr>
          <a:xfrm>
            <a:off x="4206240" y="2103120"/>
            <a:ext cx="1463040" cy="548640"/>
          </a:xfrm>
          <a:prstGeom prst="rect">
            <a:avLst/>
          </a:prstGeom>
          <a:noFill/>
          <a:ln/>
        </p:spPr>
        <p:txBody>
          <a:bodyPr wrap="square" rtlCol="0" anchor="ctr"/>
          <a:lstStyle/>
          <a:p>
            <a:pPr marL="0" indent="0" algn="ctr">
              <a:buNone/>
            </a:pPr>
            <a:r>
              <a:rPr lang="en-US" sz="800" dirty="0">
                <a:solidFill>
                  <a:srgbClr val="334155"/>
                </a:solidFill>
              </a:rPr>
              <a:t>SWIFT Messaging</a:t>
            </a:r>
            <a:endParaRPr lang="en-US" sz="800" dirty="0"/>
          </a:p>
          <a:p>
            <a:pPr marL="0" indent="0" algn="ctr">
              <a:buNone/>
            </a:pPr>
            <a:r>
              <a:rPr lang="en-US" sz="800" dirty="0">
                <a:solidFill>
                  <a:srgbClr val="334155"/>
                </a:solidFill>
              </a:rPr>
              <a:t>Network</a:t>
            </a:r>
            <a:endParaRPr lang="en-US" sz="800" dirty="0"/>
          </a:p>
        </p:txBody>
      </p:sp>
      <p:sp>
        <p:nvSpPr>
          <p:cNvPr id="23" name="Shape 21"/>
          <p:cNvSpPr/>
          <p:nvPr/>
        </p:nvSpPr>
        <p:spPr>
          <a:xfrm>
            <a:off x="4206240" y="3200400"/>
            <a:ext cx="1463040" cy="548640"/>
          </a:xfrm>
          <a:prstGeom prst="rect">
            <a:avLst/>
          </a:prstGeom>
          <a:solidFill>
            <a:srgbClr val="F8FAFC"/>
          </a:solidFill>
          <a:ln w="12700">
            <a:solidFill>
              <a:srgbClr val="94A3B8"/>
            </a:solidFill>
            <a:prstDash val="solid"/>
          </a:ln>
        </p:spPr>
      </p:sp>
      <p:sp>
        <p:nvSpPr>
          <p:cNvPr id="24" name="Text 22"/>
          <p:cNvSpPr/>
          <p:nvPr/>
        </p:nvSpPr>
        <p:spPr>
          <a:xfrm>
            <a:off x="4206240" y="3200400"/>
            <a:ext cx="1463040" cy="548640"/>
          </a:xfrm>
          <a:prstGeom prst="rect">
            <a:avLst/>
          </a:prstGeom>
          <a:noFill/>
          <a:ln/>
        </p:spPr>
        <p:txBody>
          <a:bodyPr wrap="square" rtlCol="0" anchor="ctr"/>
          <a:lstStyle/>
          <a:p>
            <a:pPr marL="0" indent="0" algn="ctr">
              <a:buNone/>
            </a:pPr>
            <a:r>
              <a:rPr lang="en-US" sz="800" dirty="0">
                <a:solidFill>
                  <a:srgbClr val="334155"/>
                </a:solidFill>
              </a:rPr>
              <a:t>Bank's Core CBS</a:t>
            </a:r>
            <a:endParaRPr lang="en-US" sz="800" dirty="0"/>
          </a:p>
          <a:p>
            <a:pPr marL="0" indent="0" algn="ctr">
              <a:buNone/>
            </a:pPr>
            <a:r>
              <a:rPr lang="en-US" sz="800" dirty="0">
                <a:solidFill>
                  <a:srgbClr val="334155"/>
                </a:solidFill>
              </a:rPr>
              <a:t>(Local Ledger)</a:t>
            </a:r>
            <a:endParaRPr lang="en-US" sz="800" dirty="0"/>
          </a:p>
        </p:txBody>
      </p:sp>
      <p:sp>
        <p:nvSpPr>
          <p:cNvPr id="25" name="Shape 23"/>
          <p:cNvSpPr/>
          <p:nvPr/>
        </p:nvSpPr>
        <p:spPr>
          <a:xfrm>
            <a:off x="6080760" y="2286000"/>
            <a:ext cx="914400" cy="1097280"/>
          </a:xfrm>
          <a:prstGeom prst="rect">
            <a:avLst/>
          </a:prstGeom>
          <a:solidFill>
            <a:srgbClr val="EFF6FF"/>
          </a:solidFill>
          <a:ln w="25400">
            <a:solidFill>
              <a:srgbClr val="2563EB"/>
            </a:solidFill>
            <a:prstDash val="solid"/>
          </a:ln>
        </p:spPr>
      </p:sp>
      <p:sp>
        <p:nvSpPr>
          <p:cNvPr id="26" name="Text 24"/>
          <p:cNvSpPr/>
          <p:nvPr/>
        </p:nvSpPr>
        <p:spPr>
          <a:xfrm>
            <a:off x="6080760" y="2286000"/>
            <a:ext cx="914400" cy="1097280"/>
          </a:xfrm>
          <a:prstGeom prst="rect">
            <a:avLst/>
          </a:prstGeom>
          <a:noFill/>
          <a:ln/>
        </p:spPr>
        <p:txBody>
          <a:bodyPr wrap="square" rtlCol="0" anchor="ctr"/>
          <a:lstStyle/>
          <a:p>
            <a:pPr marL="0" indent="0" algn="ctr">
              <a:buNone/>
            </a:pPr>
            <a:r>
              <a:rPr lang="en-US" sz="900" b="1" dirty="0">
                <a:solidFill>
                  <a:srgbClr val="1D4ED8"/>
                </a:solidFill>
              </a:rPr>
              <a:t>ORACLE</a:t>
            </a:r>
            <a:endParaRPr lang="en-US" sz="900" dirty="0"/>
          </a:p>
          <a:p>
            <a:pPr marL="0" indent="0" algn="ctr">
              <a:buNone/>
            </a:pPr>
            <a:r>
              <a:rPr lang="en-US" sz="900" b="1" dirty="0">
                <a:solidFill>
                  <a:srgbClr val="1D4ED8"/>
                </a:solidFill>
              </a:rPr>
              <a:t>API</a:t>
            </a:r>
            <a:endParaRPr lang="en-US" sz="900" dirty="0"/>
          </a:p>
          <a:p>
            <a:pPr marL="0" indent="0" algn="ctr">
              <a:buNone/>
            </a:pPr>
            <a:r>
              <a:rPr lang="en-US" sz="900" b="1" dirty="0">
                <a:solidFill>
                  <a:srgbClr val="1D4ED8"/>
                </a:solidFill>
              </a:rPr>
              <a:t>BRIDGE</a:t>
            </a:r>
            <a:endParaRPr lang="en-US" sz="900" dirty="0"/>
          </a:p>
        </p:txBody>
      </p:sp>
      <p:sp>
        <p:nvSpPr>
          <p:cNvPr id="27" name="Shape 25"/>
          <p:cNvSpPr/>
          <p:nvPr/>
        </p:nvSpPr>
        <p:spPr>
          <a:xfrm>
            <a:off x="7223760" y="1508760"/>
            <a:ext cx="1508760" cy="3200400"/>
          </a:xfrm>
          <a:prstGeom prst="rect">
            <a:avLst/>
          </a:prstGeom>
          <a:solidFill>
            <a:srgbClr val="F0FDF4"/>
          </a:solidFill>
          <a:ln w="19050">
            <a:solidFill>
              <a:srgbClr val="0D9488"/>
            </a:solidFill>
            <a:prstDash val="solid"/>
          </a:ln>
        </p:spPr>
      </p:sp>
      <p:sp>
        <p:nvSpPr>
          <p:cNvPr id="28" name="Text 26"/>
          <p:cNvSpPr/>
          <p:nvPr/>
        </p:nvSpPr>
        <p:spPr>
          <a:xfrm>
            <a:off x="7223760" y="1554480"/>
            <a:ext cx="1508760" cy="457200"/>
          </a:xfrm>
          <a:prstGeom prst="rect">
            <a:avLst/>
          </a:prstGeom>
          <a:noFill/>
          <a:ln/>
        </p:spPr>
        <p:txBody>
          <a:bodyPr wrap="square" rtlCol="0" anchor="ctr"/>
          <a:lstStyle/>
          <a:p>
            <a:pPr marL="0" indent="0" algn="ctr">
              <a:buNone/>
            </a:pPr>
            <a:r>
              <a:rPr lang="en-US" sz="700" b="1" dirty="0">
                <a:solidFill>
                  <a:srgbClr val="0F766E"/>
                </a:solidFill>
              </a:rPr>
              <a:t>INSIDE</a:t>
            </a:r>
            <a:endParaRPr lang="en-US" sz="700" dirty="0"/>
          </a:p>
          <a:p>
            <a:pPr marL="0" indent="0" algn="ctr">
              <a:buNone/>
            </a:pPr>
            <a:r>
              <a:rPr lang="en-US" sz="700" b="1" dirty="0">
                <a:solidFill>
                  <a:srgbClr val="0F766E"/>
                </a:solidFill>
              </a:rPr>
              <a:t>BLOCKCHAIN</a:t>
            </a:r>
            <a:endParaRPr lang="en-US" sz="700" dirty="0"/>
          </a:p>
        </p:txBody>
      </p:sp>
      <p:sp>
        <p:nvSpPr>
          <p:cNvPr id="29" name="Shape 27"/>
          <p:cNvSpPr/>
          <p:nvPr/>
        </p:nvSpPr>
        <p:spPr>
          <a:xfrm>
            <a:off x="7315200" y="2103120"/>
            <a:ext cx="1325880" cy="1188720"/>
          </a:xfrm>
          <a:prstGeom prst="rect">
            <a:avLst/>
          </a:prstGeom>
          <a:solidFill>
            <a:srgbClr val="FFFFFF"/>
          </a:solidFill>
          <a:ln w="12700">
            <a:solidFill>
              <a:srgbClr val="0D9488"/>
            </a:solidFill>
            <a:prstDash val="solid"/>
          </a:ln>
        </p:spPr>
      </p:sp>
      <p:sp>
        <p:nvSpPr>
          <p:cNvPr id="30" name="Text 28"/>
          <p:cNvSpPr/>
          <p:nvPr/>
        </p:nvSpPr>
        <p:spPr>
          <a:xfrm>
            <a:off x="7315200" y="2103120"/>
            <a:ext cx="1325880" cy="1188720"/>
          </a:xfrm>
          <a:prstGeom prst="rect">
            <a:avLst/>
          </a:prstGeom>
          <a:noFill/>
          <a:ln/>
        </p:spPr>
        <p:txBody>
          <a:bodyPr wrap="square" rtlCol="0" anchor="ctr"/>
          <a:lstStyle/>
          <a:p>
            <a:pPr marL="0" indent="0" algn="ctr">
              <a:buNone/>
            </a:pPr>
            <a:r>
              <a:rPr lang="en-US" sz="800" b="1" dirty="0">
                <a:solidFill>
                  <a:srgbClr val="0F766E"/>
                </a:solidFill>
              </a:rPr>
              <a:t>Smart Contracts</a:t>
            </a:r>
            <a:endParaRPr lang="en-US" sz="800" dirty="0"/>
          </a:p>
          <a:p>
            <a:pPr marL="0" indent="0" algn="ctr">
              <a:buNone/>
            </a:pPr>
            <a:r>
              <a:rPr lang="en-US" sz="800" b="1" dirty="0">
                <a:solidFill>
                  <a:srgbClr val="0F766E"/>
                </a:solidFill>
              </a:rPr>
              <a:t>+</a:t>
            </a:r>
            <a:endParaRPr lang="en-US" sz="800" dirty="0"/>
          </a:p>
          <a:p>
            <a:pPr marL="0" indent="0" algn="ctr">
              <a:buNone/>
            </a:pPr>
            <a:r>
              <a:rPr lang="en-US" sz="800" b="1" dirty="0">
                <a:solidFill>
                  <a:srgbClr val="0F766E"/>
                </a:solidFill>
              </a:rPr>
              <a:t>Permissioned</a:t>
            </a:r>
            <a:endParaRPr lang="en-US" sz="800" dirty="0"/>
          </a:p>
          <a:p>
            <a:pPr marL="0" indent="0" algn="ctr">
              <a:buNone/>
            </a:pPr>
            <a:r>
              <a:rPr lang="en-US" sz="800" b="1" dirty="0">
                <a:solidFill>
                  <a:srgbClr val="0F766E"/>
                </a:solidFill>
              </a:rPr>
              <a:t>Ledger</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891B2"/>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0891B2"/>
                </a:solidFill>
              </a:rPr>
              <a:t>SYSTEM GRAPH</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200" b="1" dirty="0">
                <a:solidFill>
                  <a:srgbClr val="1E293B"/>
                </a:solidFill>
              </a:rPr>
              <a:t>System Architecture Diagram</a:t>
            </a:r>
            <a:endParaRPr lang="en-US" sz="2200" dirty="0"/>
          </a:p>
        </p:txBody>
      </p:sp>
      <p:sp>
        <p:nvSpPr>
          <p:cNvPr id="5" name="Text 3"/>
          <p:cNvSpPr/>
          <p:nvPr/>
        </p:nvSpPr>
        <p:spPr>
          <a:xfrm>
            <a:off x="228600" y="868680"/>
            <a:ext cx="8686800" cy="228600"/>
          </a:xfrm>
          <a:prstGeom prst="rect">
            <a:avLst/>
          </a:prstGeom>
          <a:noFill/>
          <a:ln/>
        </p:spPr>
        <p:txBody>
          <a:bodyPr wrap="square" rtlCol="0" anchor="ctr"/>
          <a:lstStyle/>
          <a:p>
            <a:pPr marL="0" indent="0" algn="ctr">
              <a:buNone/>
            </a:pPr>
            <a:r>
              <a:rPr lang="en-US" sz="900" dirty="0">
                <a:solidFill>
                  <a:srgbClr val="64748B"/>
                </a:solidFill>
              </a:rPr>
              <a:t>Multi-Bank Ledger Surveillance System Architecture</a:t>
            </a:r>
            <a:endParaRPr lang="en-US" sz="900" dirty="0"/>
          </a:p>
        </p:txBody>
      </p:sp>
      <p:sp>
        <p:nvSpPr>
          <p:cNvPr id="6" name="Shape 4"/>
          <p:cNvSpPr/>
          <p:nvPr/>
        </p:nvSpPr>
        <p:spPr>
          <a:xfrm>
            <a:off x="365760" y="1188720"/>
            <a:ext cx="2011680" cy="640080"/>
          </a:xfrm>
          <a:prstGeom prst="rect">
            <a:avLst/>
          </a:prstGeom>
          <a:solidFill>
            <a:srgbClr val="F8FAFC"/>
          </a:solidFill>
          <a:ln w="25400">
            <a:solidFill>
              <a:srgbClr val="2563EB"/>
            </a:solidFill>
            <a:prstDash val="solid"/>
          </a:ln>
        </p:spPr>
      </p:sp>
      <p:sp>
        <p:nvSpPr>
          <p:cNvPr id="7" name="Text 5"/>
          <p:cNvSpPr/>
          <p:nvPr/>
        </p:nvSpPr>
        <p:spPr>
          <a:xfrm>
            <a:off x="365760" y="1188720"/>
            <a:ext cx="2011680" cy="640080"/>
          </a:xfrm>
          <a:prstGeom prst="rect">
            <a:avLst/>
          </a:prstGeom>
          <a:noFill/>
          <a:ln/>
        </p:spPr>
        <p:txBody>
          <a:bodyPr wrap="square" rtlCol="0" anchor="ctr"/>
          <a:lstStyle/>
          <a:p>
            <a:pPr marL="0" indent="0" algn="ctr">
              <a:buNone/>
            </a:pPr>
            <a:r>
              <a:rPr lang="en-US" sz="900" b="1" dirty="0">
                <a:solidFill>
                  <a:srgbClr val="1E293B"/>
                </a:solidFill>
              </a:rPr>
              <a:t>Bank A</a:t>
            </a:r>
            <a:endParaRPr lang="en-US" sz="900" dirty="0"/>
          </a:p>
          <a:p>
            <a:pPr marL="0" indent="0" algn="ctr">
              <a:buNone/>
            </a:pPr>
            <a:r>
              <a:rPr lang="en-US" sz="900" b="1" dirty="0">
                <a:solidFill>
                  <a:srgbClr val="1E293B"/>
                </a:solidFill>
              </a:rPr>
              <a:t>Transaction Node</a:t>
            </a:r>
            <a:endParaRPr lang="en-US" sz="900" dirty="0"/>
          </a:p>
        </p:txBody>
      </p:sp>
      <p:sp>
        <p:nvSpPr>
          <p:cNvPr id="8" name="Shape 6"/>
          <p:cNvSpPr/>
          <p:nvPr/>
        </p:nvSpPr>
        <p:spPr>
          <a:xfrm>
            <a:off x="3566160" y="1188720"/>
            <a:ext cx="2011680" cy="640080"/>
          </a:xfrm>
          <a:prstGeom prst="rect">
            <a:avLst/>
          </a:prstGeom>
          <a:solidFill>
            <a:srgbClr val="F8FAFC"/>
          </a:solidFill>
          <a:ln w="25400">
            <a:solidFill>
              <a:srgbClr val="2563EB"/>
            </a:solidFill>
            <a:prstDash val="solid"/>
          </a:ln>
        </p:spPr>
      </p:sp>
      <p:sp>
        <p:nvSpPr>
          <p:cNvPr id="9" name="Text 7"/>
          <p:cNvSpPr/>
          <p:nvPr/>
        </p:nvSpPr>
        <p:spPr>
          <a:xfrm>
            <a:off x="3566160" y="1188720"/>
            <a:ext cx="2011680" cy="640080"/>
          </a:xfrm>
          <a:prstGeom prst="rect">
            <a:avLst/>
          </a:prstGeom>
          <a:noFill/>
          <a:ln/>
        </p:spPr>
        <p:txBody>
          <a:bodyPr wrap="square" rtlCol="0" anchor="ctr"/>
          <a:lstStyle/>
          <a:p>
            <a:pPr marL="0" indent="0" algn="ctr">
              <a:buNone/>
            </a:pPr>
            <a:r>
              <a:rPr lang="en-US" sz="900" b="1" dirty="0">
                <a:solidFill>
                  <a:srgbClr val="1E293B"/>
                </a:solidFill>
              </a:rPr>
              <a:t>Bank B</a:t>
            </a:r>
            <a:endParaRPr lang="en-US" sz="900" dirty="0"/>
          </a:p>
          <a:p>
            <a:pPr marL="0" indent="0" algn="ctr">
              <a:buNone/>
            </a:pPr>
            <a:r>
              <a:rPr lang="en-US" sz="900" b="1" dirty="0">
                <a:solidFill>
                  <a:srgbClr val="1E293B"/>
                </a:solidFill>
              </a:rPr>
              <a:t>Transaction Node</a:t>
            </a:r>
            <a:endParaRPr lang="en-US" sz="900" dirty="0"/>
          </a:p>
        </p:txBody>
      </p:sp>
      <p:sp>
        <p:nvSpPr>
          <p:cNvPr id="10" name="Shape 8"/>
          <p:cNvSpPr/>
          <p:nvPr/>
        </p:nvSpPr>
        <p:spPr>
          <a:xfrm>
            <a:off x="6766560" y="1188720"/>
            <a:ext cx="2011680" cy="640080"/>
          </a:xfrm>
          <a:prstGeom prst="rect">
            <a:avLst/>
          </a:prstGeom>
          <a:solidFill>
            <a:srgbClr val="F8FAFC"/>
          </a:solidFill>
          <a:ln w="25400">
            <a:solidFill>
              <a:srgbClr val="2563EB"/>
            </a:solidFill>
            <a:prstDash val="solid"/>
          </a:ln>
        </p:spPr>
      </p:sp>
      <p:sp>
        <p:nvSpPr>
          <p:cNvPr id="11" name="Text 9"/>
          <p:cNvSpPr/>
          <p:nvPr/>
        </p:nvSpPr>
        <p:spPr>
          <a:xfrm>
            <a:off x="6766560" y="1188720"/>
            <a:ext cx="2011680" cy="640080"/>
          </a:xfrm>
          <a:prstGeom prst="rect">
            <a:avLst/>
          </a:prstGeom>
          <a:noFill/>
          <a:ln/>
        </p:spPr>
        <p:txBody>
          <a:bodyPr wrap="square" rtlCol="0" anchor="ctr"/>
          <a:lstStyle/>
          <a:p>
            <a:pPr marL="0" indent="0" algn="ctr">
              <a:buNone/>
            </a:pPr>
            <a:r>
              <a:rPr lang="en-US" sz="900" b="1" dirty="0">
                <a:solidFill>
                  <a:srgbClr val="1E293B"/>
                </a:solidFill>
              </a:rPr>
              <a:t>Bank C</a:t>
            </a:r>
            <a:endParaRPr lang="en-US" sz="900" dirty="0"/>
          </a:p>
          <a:p>
            <a:pPr marL="0" indent="0" algn="ctr">
              <a:buNone/>
            </a:pPr>
            <a:r>
              <a:rPr lang="en-US" sz="900" b="1" dirty="0">
                <a:solidFill>
                  <a:srgbClr val="1E293B"/>
                </a:solidFill>
              </a:rPr>
              <a:t>Transaction Node</a:t>
            </a:r>
            <a:endParaRPr lang="en-US" sz="900" dirty="0"/>
          </a:p>
        </p:txBody>
      </p:sp>
      <p:sp>
        <p:nvSpPr>
          <p:cNvPr id="12" name="Shape 10"/>
          <p:cNvSpPr/>
          <p:nvPr/>
        </p:nvSpPr>
        <p:spPr>
          <a:xfrm>
            <a:off x="914400" y="2103120"/>
            <a:ext cx="7315200" cy="685800"/>
          </a:xfrm>
          <a:prstGeom prst="rect">
            <a:avLst/>
          </a:prstGeom>
          <a:solidFill>
            <a:srgbClr val="EFF6FF"/>
          </a:solidFill>
          <a:ln w="25400">
            <a:solidFill>
              <a:srgbClr val="2563EB"/>
            </a:solidFill>
            <a:prstDash val="solid"/>
          </a:ln>
        </p:spPr>
      </p:sp>
      <p:sp>
        <p:nvSpPr>
          <p:cNvPr id="13" name="Text 11"/>
          <p:cNvSpPr/>
          <p:nvPr/>
        </p:nvSpPr>
        <p:spPr>
          <a:xfrm>
            <a:off x="914400" y="2103120"/>
            <a:ext cx="7315200" cy="365760"/>
          </a:xfrm>
          <a:prstGeom prst="rect">
            <a:avLst/>
          </a:prstGeom>
          <a:noFill/>
          <a:ln/>
        </p:spPr>
        <p:txBody>
          <a:bodyPr wrap="square" rtlCol="0" anchor="b"/>
          <a:lstStyle/>
          <a:p>
            <a:pPr marL="0" indent="0" algn="ctr">
              <a:buNone/>
            </a:pPr>
            <a:r>
              <a:rPr lang="en-US" sz="1300" b="1" dirty="0">
                <a:solidFill>
                  <a:srgbClr val="2563EB"/>
                </a:solidFill>
              </a:rPr>
              <a:t>Blockchain Network (Ledger Platform)</a:t>
            </a:r>
            <a:endParaRPr lang="en-US" sz="1300" dirty="0"/>
          </a:p>
        </p:txBody>
      </p:sp>
      <p:sp>
        <p:nvSpPr>
          <p:cNvPr id="14" name="Text 12"/>
          <p:cNvSpPr/>
          <p:nvPr/>
        </p:nvSpPr>
        <p:spPr>
          <a:xfrm>
            <a:off x="914400" y="2423160"/>
            <a:ext cx="7315200" cy="274320"/>
          </a:xfrm>
          <a:prstGeom prst="rect">
            <a:avLst/>
          </a:prstGeom>
          <a:noFill/>
          <a:ln/>
        </p:spPr>
        <p:txBody>
          <a:bodyPr wrap="square" rtlCol="0" anchor="ctr"/>
          <a:lstStyle/>
          <a:p>
            <a:pPr marL="0" indent="0" algn="ctr">
              <a:buNone/>
            </a:pPr>
            <a:r>
              <a:rPr lang="en-US" sz="800" dirty="0">
                <a:solidFill>
                  <a:srgbClr val="64748B"/>
                </a:solidFill>
              </a:rPr>
              <a:t>(Permissioned Distributed Ledger State)</a:t>
            </a:r>
            <a:endParaRPr lang="en-US" sz="800" dirty="0"/>
          </a:p>
        </p:txBody>
      </p:sp>
      <p:sp>
        <p:nvSpPr>
          <p:cNvPr id="15" name="Shape 13"/>
          <p:cNvSpPr/>
          <p:nvPr/>
        </p:nvSpPr>
        <p:spPr>
          <a:xfrm>
            <a:off x="914400" y="3017520"/>
            <a:ext cx="3200400" cy="731520"/>
          </a:xfrm>
          <a:prstGeom prst="rect">
            <a:avLst/>
          </a:prstGeom>
          <a:solidFill>
            <a:srgbClr val="F0FDF4"/>
          </a:solidFill>
          <a:ln w="25400">
            <a:solidFill>
              <a:srgbClr val="0D9488"/>
            </a:solidFill>
            <a:prstDash val="solid"/>
          </a:ln>
        </p:spPr>
      </p:sp>
      <p:sp>
        <p:nvSpPr>
          <p:cNvPr id="16" name="Text 14"/>
          <p:cNvSpPr/>
          <p:nvPr/>
        </p:nvSpPr>
        <p:spPr>
          <a:xfrm>
            <a:off x="914400" y="3017520"/>
            <a:ext cx="3200400" cy="731520"/>
          </a:xfrm>
          <a:prstGeom prst="rect">
            <a:avLst/>
          </a:prstGeom>
          <a:noFill/>
          <a:ln/>
        </p:spPr>
        <p:txBody>
          <a:bodyPr wrap="square" rtlCol="0" anchor="ctr"/>
          <a:lstStyle/>
          <a:p>
            <a:pPr marL="0" indent="0" algn="ctr">
              <a:buNone/>
            </a:pPr>
            <a:r>
              <a:rPr lang="en-US" sz="1000" b="1" dirty="0">
                <a:solidFill>
                  <a:srgbClr val="0F766E"/>
                </a:solidFill>
              </a:rPr>
              <a:t>Smart Contracts Engine</a:t>
            </a:r>
            <a:endParaRPr lang="en-US" sz="1000" dirty="0"/>
          </a:p>
          <a:p>
            <a:pPr marL="0" indent="0" algn="ctr">
              <a:buNone/>
            </a:pPr>
            <a:r>
              <a:rPr lang="en-US" sz="1000" b="1" dirty="0">
                <a:solidFill>
                  <a:srgbClr val="0F766E"/>
                </a:solidFill>
              </a:rPr>
              <a:t>(On-Chain Rules &amp; Validation)</a:t>
            </a:r>
            <a:endParaRPr lang="en-US" sz="1000" dirty="0"/>
          </a:p>
        </p:txBody>
      </p:sp>
      <p:sp>
        <p:nvSpPr>
          <p:cNvPr id="17" name="Shape 15"/>
          <p:cNvSpPr/>
          <p:nvPr/>
        </p:nvSpPr>
        <p:spPr>
          <a:xfrm>
            <a:off x="5029200" y="3017520"/>
            <a:ext cx="3200400" cy="731520"/>
          </a:xfrm>
          <a:prstGeom prst="rect">
            <a:avLst/>
          </a:prstGeom>
          <a:solidFill>
            <a:srgbClr val="FAF5FF"/>
          </a:solidFill>
          <a:ln w="25400">
            <a:solidFill>
              <a:srgbClr val="7E22CE"/>
            </a:solidFill>
            <a:prstDash val="solid"/>
          </a:ln>
        </p:spPr>
      </p:sp>
      <p:sp>
        <p:nvSpPr>
          <p:cNvPr id="18" name="Text 16"/>
          <p:cNvSpPr/>
          <p:nvPr/>
        </p:nvSpPr>
        <p:spPr>
          <a:xfrm>
            <a:off x="5029200" y="3017520"/>
            <a:ext cx="3200400" cy="731520"/>
          </a:xfrm>
          <a:prstGeom prst="rect">
            <a:avLst/>
          </a:prstGeom>
          <a:noFill/>
          <a:ln/>
        </p:spPr>
        <p:txBody>
          <a:bodyPr wrap="square" rtlCol="0" anchor="ctr"/>
          <a:lstStyle/>
          <a:p>
            <a:pPr marL="0" indent="0" algn="ctr">
              <a:buNone/>
            </a:pPr>
            <a:r>
              <a:rPr lang="en-US" sz="1000" b="1" dirty="0">
                <a:solidFill>
                  <a:srgbClr val="6B21A8"/>
                </a:solidFill>
              </a:rPr>
              <a:t>AI / ML Processing Layer</a:t>
            </a:r>
            <a:endParaRPr lang="en-US" sz="1000" dirty="0"/>
          </a:p>
          <a:p>
            <a:pPr marL="0" indent="0" algn="ctr">
              <a:buNone/>
            </a:pPr>
            <a:r>
              <a:rPr lang="en-US" sz="1000" b="1" dirty="0">
                <a:solidFill>
                  <a:srgbClr val="6B21A8"/>
                </a:solidFill>
              </a:rPr>
              <a:t>(Dynamic Behavioral Pattern Analysis)</a:t>
            </a:r>
            <a:endParaRPr lang="en-US" sz="1000" dirty="0"/>
          </a:p>
        </p:txBody>
      </p:sp>
      <p:sp>
        <p:nvSpPr>
          <p:cNvPr id="19" name="Shape 17"/>
          <p:cNvSpPr/>
          <p:nvPr/>
        </p:nvSpPr>
        <p:spPr>
          <a:xfrm>
            <a:off x="2057400" y="3977640"/>
            <a:ext cx="5029200" cy="777240"/>
          </a:xfrm>
          <a:prstGeom prst="rect">
            <a:avLst/>
          </a:prstGeom>
          <a:solidFill>
            <a:srgbClr val="FFF1F2"/>
          </a:solidFill>
          <a:ln w="25400">
            <a:solidFill>
              <a:srgbClr val="E11D48"/>
            </a:solidFill>
            <a:prstDash val="solid"/>
          </a:ln>
        </p:spPr>
      </p:sp>
      <p:sp>
        <p:nvSpPr>
          <p:cNvPr id="20" name="Text 18"/>
          <p:cNvSpPr/>
          <p:nvPr/>
        </p:nvSpPr>
        <p:spPr>
          <a:xfrm>
            <a:off x="2057400" y="3977640"/>
            <a:ext cx="5029200" cy="777240"/>
          </a:xfrm>
          <a:prstGeom prst="rect">
            <a:avLst/>
          </a:prstGeom>
          <a:noFill/>
          <a:ln/>
        </p:spPr>
        <p:txBody>
          <a:bodyPr wrap="square" rtlCol="0" anchor="ctr"/>
          <a:lstStyle/>
          <a:p>
            <a:pPr marL="0" indent="0" algn="ctr">
              <a:buNone/>
            </a:pPr>
            <a:r>
              <a:rPr lang="en-US" sz="1100" b="1" dirty="0">
                <a:solidFill>
                  <a:srgbClr val="BE123C"/>
                </a:solidFill>
              </a:rPr>
              <a:t>Regulator / AML Body Authority</a:t>
            </a:r>
            <a:endParaRPr lang="en-US" sz="1100" dirty="0"/>
          </a:p>
          <a:p>
            <a:pPr marL="0" indent="0" algn="ctr">
              <a:buNone/>
            </a:pPr>
            <a:r>
              <a:rPr lang="en-US" sz="1100" b="1" dirty="0">
                <a:solidFill>
                  <a:srgbClr val="BE123C"/>
                </a:solidFill>
              </a:rPr>
              <a:t>(Real-Time Compliance &amp; Security Dashboard)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51" name="Shape 19"/>
          <p:cNvSpPr/>
          <p:nvPr/>
        </p:nvSpPr>
        <p:spPr>
          <a:xfrm>
            <a:off x="365760" y="1188720"/>
            <a:ext cx="384048" cy="384048"/>
          </a:xfrm>
          <a:prstGeom prst="ellipse">
            <a:avLst/>
          </a:prstGeom>
          <a:solidFill>
            <a:srgbClr val="F1F5F9"/>
          </a:solidFill>
          <a:ln/>
        </p:spPr>
      </p:sp>
      <p:sp>
        <p:nvSpPr>
          <p:cNvPr id="50" name="Shape 8"/>
          <p:cNvSpPr/>
          <p:nvPr/>
        </p:nvSpPr>
        <p:spPr>
          <a:xfrm>
            <a:off x="228600" y="1028700"/>
            <a:ext cx="2715768" cy="1143000"/>
          </a:xfrm>
          <a:prstGeom prst="rect">
            <a:avLst/>
          </a:prstGeom>
          <a:solidFill>
            <a:srgbClr val="FFFFFF"/>
          </a:solidFill>
          <a:ln w="12700">
            <a:solidFill>
              <a:srgbClr val="E2E8F0"/>
            </a:solidFill>
            <a:prstDash val="solid"/>
          </a:ln>
        </p:spPr>
      </p:sp>
      <p:sp>
        <p:nvSpPr>
          <p:cNvPr id="2" name="Shape 0"/>
          <p:cNvSpPr/>
          <p:nvPr/>
        </p:nvSpPr>
        <p:spPr>
          <a:xfrm>
            <a:off x="0" y="0"/>
            <a:ext cx="54864" cy="5143500"/>
          </a:xfrm>
          <a:prstGeom prst="rect">
            <a:avLst/>
          </a:prstGeom>
          <a:solidFill>
            <a:srgbClr val="2563EB"/>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2563EB"/>
                </a:solidFill>
              </a:rPr>
              <a:t>WORKFLOW</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000" b="1" dirty="0">
                <a:solidFill>
                  <a:srgbClr val="1E293B"/>
                </a:solidFill>
              </a:rPr>
              <a:t>Workflow: Blockchain-Based AML/CFT System</a:t>
            </a:r>
            <a:endParaRPr lang="en-US" sz="2000" dirty="0"/>
          </a:p>
        </p:txBody>
      </p:sp>
      <p:sp>
        <p:nvSpPr>
          <p:cNvPr id="7" name="Text 5"/>
          <p:cNvSpPr/>
          <p:nvPr/>
        </p:nvSpPr>
        <p:spPr>
          <a:xfrm>
            <a:off x="365760" y="1188720"/>
            <a:ext cx="384048" cy="384048"/>
          </a:xfrm>
          <a:prstGeom prst="rect">
            <a:avLst/>
          </a:prstGeom>
          <a:noFill/>
          <a:ln/>
        </p:spPr>
        <p:txBody>
          <a:bodyPr wrap="square" rtlCol="0" anchor="ctr"/>
          <a:lstStyle/>
          <a:p>
            <a:pPr marL="0" indent="0" algn="ctr">
              <a:buNone/>
            </a:pPr>
            <a:r>
              <a:rPr lang="en-US" sz="900" b="1" dirty="0">
                <a:solidFill>
                  <a:srgbClr val="0070C0"/>
                </a:solidFill>
              </a:rPr>
              <a:t>1</a:t>
            </a:r>
            <a:endParaRPr lang="en-US" sz="900" dirty="0">
              <a:solidFill>
                <a:srgbClr val="0070C0"/>
              </a:solidFill>
            </a:endParaRPr>
          </a:p>
        </p:txBody>
      </p:sp>
      <p:sp>
        <p:nvSpPr>
          <p:cNvPr id="8" name="Text 6"/>
          <p:cNvSpPr/>
          <p:nvPr/>
        </p:nvSpPr>
        <p:spPr>
          <a:xfrm>
            <a:off x="822960" y="1188720"/>
            <a:ext cx="1965960" cy="384048"/>
          </a:xfrm>
          <a:prstGeom prst="rect">
            <a:avLst/>
          </a:prstGeom>
          <a:noFill/>
          <a:ln/>
        </p:spPr>
        <p:txBody>
          <a:bodyPr wrap="square" rtlCol="0" anchor="ctr"/>
          <a:lstStyle/>
          <a:p>
            <a:pPr marL="0" indent="0">
              <a:buNone/>
            </a:pPr>
            <a:r>
              <a:rPr lang="en-US" sz="950" b="1" dirty="0">
                <a:solidFill>
                  <a:srgbClr val="1E293B"/>
                </a:solidFill>
              </a:rPr>
              <a:t>Transaction Initiation</a:t>
            </a:r>
            <a:endParaRPr lang="en-US" sz="950" dirty="0"/>
          </a:p>
        </p:txBody>
      </p:sp>
      <p:sp>
        <p:nvSpPr>
          <p:cNvPr id="9" name="Text 7"/>
          <p:cNvSpPr/>
          <p:nvPr/>
        </p:nvSpPr>
        <p:spPr>
          <a:xfrm>
            <a:off x="393192" y="1645920"/>
            <a:ext cx="2377440" cy="457200"/>
          </a:xfrm>
          <a:prstGeom prst="rect">
            <a:avLst/>
          </a:prstGeom>
          <a:noFill/>
          <a:ln/>
        </p:spPr>
        <p:txBody>
          <a:bodyPr wrap="square" rtlCol="0" anchor="ctr"/>
          <a:lstStyle/>
          <a:p>
            <a:pPr marL="0" indent="0">
              <a:buNone/>
            </a:pPr>
            <a:r>
              <a:rPr lang="en-US" sz="800" dirty="0">
                <a:solidFill>
                  <a:srgbClr val="64748B"/>
                </a:solidFill>
              </a:rPr>
              <a:t>A customer initiates a financial transaction through Bank A.</a:t>
            </a:r>
            <a:endParaRPr lang="en-US" sz="800" dirty="0"/>
          </a:p>
        </p:txBody>
      </p:sp>
      <p:sp>
        <p:nvSpPr>
          <p:cNvPr id="10" name="Shape 8"/>
          <p:cNvSpPr/>
          <p:nvPr/>
        </p:nvSpPr>
        <p:spPr>
          <a:xfrm>
            <a:off x="3172968" y="1051560"/>
            <a:ext cx="2715768" cy="1143000"/>
          </a:xfrm>
          <a:prstGeom prst="rect">
            <a:avLst/>
          </a:prstGeom>
          <a:solidFill>
            <a:srgbClr val="FFFFFF"/>
          </a:solidFill>
          <a:ln w="12700">
            <a:solidFill>
              <a:srgbClr val="E2E8F0"/>
            </a:solidFill>
            <a:prstDash val="solid"/>
          </a:ln>
        </p:spPr>
      </p:sp>
      <p:sp>
        <p:nvSpPr>
          <p:cNvPr id="11" name="Shape 9"/>
          <p:cNvSpPr/>
          <p:nvPr/>
        </p:nvSpPr>
        <p:spPr>
          <a:xfrm>
            <a:off x="3310128" y="1188720"/>
            <a:ext cx="384048" cy="384048"/>
          </a:xfrm>
          <a:prstGeom prst="ellipse">
            <a:avLst/>
          </a:prstGeom>
          <a:solidFill>
            <a:srgbClr val="F1F5F9"/>
          </a:solidFill>
          <a:ln/>
        </p:spPr>
      </p:sp>
      <p:sp>
        <p:nvSpPr>
          <p:cNvPr id="12" name="Text 10"/>
          <p:cNvSpPr/>
          <p:nvPr/>
        </p:nvSpPr>
        <p:spPr>
          <a:xfrm>
            <a:off x="3310128" y="1188720"/>
            <a:ext cx="384048" cy="384048"/>
          </a:xfrm>
          <a:prstGeom prst="rect">
            <a:avLst/>
          </a:prstGeom>
          <a:noFill/>
          <a:ln/>
        </p:spPr>
        <p:txBody>
          <a:bodyPr wrap="square" rtlCol="0" anchor="ctr"/>
          <a:lstStyle/>
          <a:p>
            <a:pPr marL="0" indent="0" algn="ctr">
              <a:buNone/>
            </a:pPr>
            <a:r>
              <a:rPr lang="en-US" sz="900" b="1" dirty="0">
                <a:solidFill>
                  <a:srgbClr val="64748B"/>
                </a:solidFill>
              </a:rPr>
              <a:t>2</a:t>
            </a:r>
            <a:endParaRPr lang="en-US" sz="900" dirty="0"/>
          </a:p>
        </p:txBody>
      </p:sp>
      <p:sp>
        <p:nvSpPr>
          <p:cNvPr id="13" name="Text 11"/>
          <p:cNvSpPr/>
          <p:nvPr/>
        </p:nvSpPr>
        <p:spPr>
          <a:xfrm>
            <a:off x="3767328" y="1188720"/>
            <a:ext cx="1965960" cy="384048"/>
          </a:xfrm>
          <a:prstGeom prst="rect">
            <a:avLst/>
          </a:prstGeom>
          <a:noFill/>
          <a:ln/>
        </p:spPr>
        <p:txBody>
          <a:bodyPr wrap="square" rtlCol="0" anchor="ctr"/>
          <a:lstStyle/>
          <a:p>
            <a:pPr marL="0" indent="0">
              <a:buNone/>
            </a:pPr>
            <a:r>
              <a:rPr lang="en-US" sz="950" b="1" dirty="0">
                <a:solidFill>
                  <a:srgbClr val="1E293B"/>
                </a:solidFill>
              </a:rPr>
              <a:t>Broadcast to Network</a:t>
            </a:r>
            <a:endParaRPr lang="en-US" sz="950" dirty="0"/>
          </a:p>
        </p:txBody>
      </p:sp>
      <p:sp>
        <p:nvSpPr>
          <p:cNvPr id="14" name="Text 12"/>
          <p:cNvSpPr/>
          <p:nvPr/>
        </p:nvSpPr>
        <p:spPr>
          <a:xfrm>
            <a:off x="3337560" y="1645920"/>
            <a:ext cx="2377440" cy="457200"/>
          </a:xfrm>
          <a:prstGeom prst="rect">
            <a:avLst/>
          </a:prstGeom>
          <a:noFill/>
          <a:ln/>
        </p:spPr>
        <p:txBody>
          <a:bodyPr wrap="square" rtlCol="0" anchor="ctr"/>
          <a:lstStyle/>
          <a:p>
            <a:pPr marL="0" indent="0">
              <a:buNone/>
            </a:pPr>
            <a:r>
              <a:rPr lang="en-US" sz="800" dirty="0">
                <a:solidFill>
                  <a:srgbClr val="64748B"/>
                </a:solidFill>
              </a:rPr>
              <a:t>The transaction is sent to the permissioned blockchain network shared by banks and regulators.</a:t>
            </a:r>
            <a:endParaRPr lang="en-US" sz="800" dirty="0"/>
          </a:p>
        </p:txBody>
      </p:sp>
      <p:sp>
        <p:nvSpPr>
          <p:cNvPr id="15" name="Shape 13"/>
          <p:cNvSpPr/>
          <p:nvPr/>
        </p:nvSpPr>
        <p:spPr>
          <a:xfrm>
            <a:off x="6117336" y="1051560"/>
            <a:ext cx="2715768" cy="1143000"/>
          </a:xfrm>
          <a:prstGeom prst="rect">
            <a:avLst/>
          </a:prstGeom>
          <a:solidFill>
            <a:srgbClr val="FFFFFF"/>
          </a:solidFill>
          <a:ln w="12700">
            <a:solidFill>
              <a:srgbClr val="E2E8F0"/>
            </a:solidFill>
            <a:prstDash val="solid"/>
          </a:ln>
        </p:spPr>
      </p:sp>
      <p:sp>
        <p:nvSpPr>
          <p:cNvPr id="16" name="Shape 14"/>
          <p:cNvSpPr/>
          <p:nvPr/>
        </p:nvSpPr>
        <p:spPr>
          <a:xfrm>
            <a:off x="6254496" y="1188720"/>
            <a:ext cx="384048" cy="384048"/>
          </a:xfrm>
          <a:prstGeom prst="ellipse">
            <a:avLst/>
          </a:prstGeom>
          <a:solidFill>
            <a:srgbClr val="F1F5F9"/>
          </a:solidFill>
          <a:ln/>
        </p:spPr>
      </p:sp>
      <p:sp>
        <p:nvSpPr>
          <p:cNvPr id="17" name="Text 15"/>
          <p:cNvSpPr/>
          <p:nvPr/>
        </p:nvSpPr>
        <p:spPr>
          <a:xfrm>
            <a:off x="6254496" y="1188720"/>
            <a:ext cx="384048" cy="384048"/>
          </a:xfrm>
          <a:prstGeom prst="rect">
            <a:avLst/>
          </a:prstGeom>
          <a:noFill/>
          <a:ln/>
        </p:spPr>
        <p:txBody>
          <a:bodyPr wrap="square" rtlCol="0" anchor="ctr"/>
          <a:lstStyle/>
          <a:p>
            <a:pPr marL="0" indent="0" algn="ctr">
              <a:buNone/>
            </a:pPr>
            <a:r>
              <a:rPr lang="en-US" sz="900" b="1" dirty="0">
                <a:solidFill>
                  <a:srgbClr val="64748B"/>
                </a:solidFill>
              </a:rPr>
              <a:t>3</a:t>
            </a:r>
            <a:endParaRPr lang="en-US" sz="900" dirty="0"/>
          </a:p>
        </p:txBody>
      </p:sp>
      <p:sp>
        <p:nvSpPr>
          <p:cNvPr id="18" name="Text 16"/>
          <p:cNvSpPr/>
          <p:nvPr/>
        </p:nvSpPr>
        <p:spPr>
          <a:xfrm>
            <a:off x="6711696" y="1188720"/>
            <a:ext cx="1965960" cy="384048"/>
          </a:xfrm>
          <a:prstGeom prst="rect">
            <a:avLst/>
          </a:prstGeom>
          <a:noFill/>
          <a:ln/>
        </p:spPr>
        <p:txBody>
          <a:bodyPr wrap="square" rtlCol="0" anchor="ctr"/>
          <a:lstStyle/>
          <a:p>
            <a:pPr marL="0" indent="0">
              <a:buNone/>
            </a:pPr>
            <a:r>
              <a:rPr lang="en-US" sz="950" b="1" dirty="0">
                <a:solidFill>
                  <a:srgbClr val="1E293B"/>
                </a:solidFill>
              </a:rPr>
              <a:t>Ledger Verification</a:t>
            </a:r>
            <a:endParaRPr lang="en-US" sz="950" dirty="0"/>
          </a:p>
        </p:txBody>
      </p:sp>
      <p:sp>
        <p:nvSpPr>
          <p:cNvPr id="19" name="Text 17"/>
          <p:cNvSpPr/>
          <p:nvPr/>
        </p:nvSpPr>
        <p:spPr>
          <a:xfrm>
            <a:off x="6281928" y="1645920"/>
            <a:ext cx="2377440" cy="457200"/>
          </a:xfrm>
          <a:prstGeom prst="rect">
            <a:avLst/>
          </a:prstGeom>
          <a:noFill/>
          <a:ln/>
        </p:spPr>
        <p:txBody>
          <a:bodyPr wrap="square" rtlCol="0" anchor="ctr"/>
          <a:lstStyle/>
          <a:p>
            <a:pPr marL="0" indent="0">
              <a:buNone/>
            </a:pPr>
            <a:r>
              <a:rPr lang="en-US" sz="800" dirty="0">
                <a:solidFill>
                  <a:srgbClr val="64748B"/>
                </a:solidFill>
              </a:rPr>
              <a:t>The transaction is recorded and validated by the blockchain network nodes.</a:t>
            </a:r>
            <a:endParaRPr lang="en-US" sz="800" dirty="0"/>
          </a:p>
        </p:txBody>
      </p:sp>
      <p:sp>
        <p:nvSpPr>
          <p:cNvPr id="20" name="Shape 18"/>
          <p:cNvSpPr/>
          <p:nvPr/>
        </p:nvSpPr>
        <p:spPr>
          <a:xfrm>
            <a:off x="228600" y="2286000"/>
            <a:ext cx="2715768" cy="1143000"/>
          </a:xfrm>
          <a:prstGeom prst="rect">
            <a:avLst/>
          </a:prstGeom>
          <a:solidFill>
            <a:srgbClr val="FFFFFF"/>
          </a:solidFill>
          <a:ln w="12700">
            <a:solidFill>
              <a:srgbClr val="E2E8F0"/>
            </a:solidFill>
            <a:prstDash val="solid"/>
          </a:ln>
        </p:spPr>
      </p:sp>
      <p:sp>
        <p:nvSpPr>
          <p:cNvPr id="21" name="Shape 19"/>
          <p:cNvSpPr/>
          <p:nvPr/>
        </p:nvSpPr>
        <p:spPr>
          <a:xfrm>
            <a:off x="365760" y="2423160"/>
            <a:ext cx="384048" cy="384048"/>
          </a:xfrm>
          <a:prstGeom prst="ellipse">
            <a:avLst/>
          </a:prstGeom>
          <a:solidFill>
            <a:srgbClr val="F1F5F9"/>
          </a:solidFill>
          <a:ln/>
        </p:spPr>
      </p:sp>
      <p:sp>
        <p:nvSpPr>
          <p:cNvPr id="22" name="Text 20"/>
          <p:cNvSpPr/>
          <p:nvPr/>
        </p:nvSpPr>
        <p:spPr>
          <a:xfrm>
            <a:off x="365760" y="2423160"/>
            <a:ext cx="384048" cy="384048"/>
          </a:xfrm>
          <a:prstGeom prst="rect">
            <a:avLst/>
          </a:prstGeom>
          <a:noFill/>
          <a:ln/>
        </p:spPr>
        <p:txBody>
          <a:bodyPr wrap="square" rtlCol="0" anchor="ctr"/>
          <a:lstStyle/>
          <a:p>
            <a:pPr marL="0" indent="0" algn="ctr">
              <a:buNone/>
            </a:pPr>
            <a:r>
              <a:rPr lang="en-US" sz="900" b="1" dirty="0">
                <a:solidFill>
                  <a:srgbClr val="64748B"/>
                </a:solidFill>
              </a:rPr>
              <a:t>4</a:t>
            </a:r>
            <a:endParaRPr lang="en-US" sz="900" dirty="0"/>
          </a:p>
        </p:txBody>
      </p:sp>
      <p:sp>
        <p:nvSpPr>
          <p:cNvPr id="23" name="Text 21"/>
          <p:cNvSpPr/>
          <p:nvPr/>
        </p:nvSpPr>
        <p:spPr>
          <a:xfrm>
            <a:off x="822960" y="2423160"/>
            <a:ext cx="1965960" cy="384048"/>
          </a:xfrm>
          <a:prstGeom prst="rect">
            <a:avLst/>
          </a:prstGeom>
          <a:noFill/>
          <a:ln/>
        </p:spPr>
        <p:txBody>
          <a:bodyPr wrap="square" rtlCol="0" anchor="ctr"/>
          <a:lstStyle/>
          <a:p>
            <a:pPr marL="0" indent="0">
              <a:buNone/>
            </a:pPr>
            <a:r>
              <a:rPr lang="en-US" sz="950" b="1" dirty="0">
                <a:solidFill>
                  <a:srgbClr val="1E293B"/>
                </a:solidFill>
              </a:rPr>
              <a:t>Smart Contract Evaluation</a:t>
            </a:r>
            <a:endParaRPr lang="en-US" sz="950" dirty="0"/>
          </a:p>
        </p:txBody>
      </p:sp>
      <p:sp>
        <p:nvSpPr>
          <p:cNvPr id="24" name="Text 22"/>
          <p:cNvSpPr/>
          <p:nvPr/>
        </p:nvSpPr>
        <p:spPr>
          <a:xfrm>
            <a:off x="393192" y="2880360"/>
            <a:ext cx="2377440" cy="457200"/>
          </a:xfrm>
          <a:prstGeom prst="rect">
            <a:avLst/>
          </a:prstGeom>
          <a:noFill/>
          <a:ln/>
        </p:spPr>
        <p:txBody>
          <a:bodyPr wrap="square" rtlCol="0" anchor="ctr"/>
          <a:lstStyle/>
          <a:p>
            <a:pPr marL="0" indent="0">
              <a:buNone/>
            </a:pPr>
            <a:r>
              <a:rPr lang="en-US" sz="800" dirty="0">
                <a:solidFill>
                  <a:srgbClr val="64748B"/>
                </a:solidFill>
              </a:rPr>
              <a:t>Smart contracts check AML rules: amount threshold, suspicious frequency, high-risk entity involvement.</a:t>
            </a:r>
            <a:endParaRPr lang="en-US" sz="800" dirty="0"/>
          </a:p>
        </p:txBody>
      </p:sp>
      <p:sp>
        <p:nvSpPr>
          <p:cNvPr id="25" name="Shape 23"/>
          <p:cNvSpPr/>
          <p:nvPr/>
        </p:nvSpPr>
        <p:spPr>
          <a:xfrm>
            <a:off x="3172968" y="2286000"/>
            <a:ext cx="2715768" cy="1143000"/>
          </a:xfrm>
          <a:prstGeom prst="rect">
            <a:avLst/>
          </a:prstGeom>
          <a:solidFill>
            <a:srgbClr val="FFFFFF"/>
          </a:solidFill>
          <a:ln w="12700">
            <a:solidFill>
              <a:srgbClr val="E2E8F0"/>
            </a:solidFill>
            <a:prstDash val="solid"/>
          </a:ln>
        </p:spPr>
      </p:sp>
      <p:sp>
        <p:nvSpPr>
          <p:cNvPr id="26" name="Shape 24"/>
          <p:cNvSpPr/>
          <p:nvPr/>
        </p:nvSpPr>
        <p:spPr>
          <a:xfrm>
            <a:off x="3310128" y="2423160"/>
            <a:ext cx="384048" cy="384048"/>
          </a:xfrm>
          <a:prstGeom prst="ellipse">
            <a:avLst/>
          </a:prstGeom>
          <a:solidFill>
            <a:srgbClr val="F1F5F9"/>
          </a:solidFill>
          <a:ln/>
        </p:spPr>
      </p:sp>
      <p:sp>
        <p:nvSpPr>
          <p:cNvPr id="27" name="Text 25"/>
          <p:cNvSpPr/>
          <p:nvPr/>
        </p:nvSpPr>
        <p:spPr>
          <a:xfrm>
            <a:off x="3310128" y="2423160"/>
            <a:ext cx="384048" cy="384048"/>
          </a:xfrm>
          <a:prstGeom prst="rect">
            <a:avLst/>
          </a:prstGeom>
          <a:noFill/>
          <a:ln/>
        </p:spPr>
        <p:txBody>
          <a:bodyPr wrap="square" rtlCol="0" anchor="ctr"/>
          <a:lstStyle/>
          <a:p>
            <a:pPr marL="0" indent="0" algn="ctr">
              <a:buNone/>
            </a:pPr>
            <a:r>
              <a:rPr lang="en-US" sz="900" b="1" dirty="0">
                <a:solidFill>
                  <a:srgbClr val="64748B"/>
                </a:solidFill>
              </a:rPr>
              <a:t>5</a:t>
            </a:r>
            <a:endParaRPr lang="en-US" sz="900" dirty="0"/>
          </a:p>
        </p:txBody>
      </p:sp>
      <p:sp>
        <p:nvSpPr>
          <p:cNvPr id="28" name="Text 26"/>
          <p:cNvSpPr/>
          <p:nvPr/>
        </p:nvSpPr>
        <p:spPr>
          <a:xfrm>
            <a:off x="3767328" y="2423160"/>
            <a:ext cx="1965960" cy="384048"/>
          </a:xfrm>
          <a:prstGeom prst="rect">
            <a:avLst/>
          </a:prstGeom>
          <a:noFill/>
          <a:ln/>
        </p:spPr>
        <p:txBody>
          <a:bodyPr wrap="square" rtlCol="0" anchor="ctr"/>
          <a:lstStyle/>
          <a:p>
            <a:pPr marL="0" indent="0">
              <a:buNone/>
            </a:pPr>
            <a:r>
              <a:rPr lang="en-US" sz="950" b="1" dirty="0">
                <a:solidFill>
                  <a:srgbClr val="1E293B"/>
                </a:solidFill>
              </a:rPr>
              <a:t>AI/ML Fraud Analysis</a:t>
            </a:r>
            <a:endParaRPr lang="en-US" sz="950" dirty="0"/>
          </a:p>
        </p:txBody>
      </p:sp>
      <p:sp>
        <p:nvSpPr>
          <p:cNvPr id="29" name="Text 27"/>
          <p:cNvSpPr/>
          <p:nvPr/>
        </p:nvSpPr>
        <p:spPr>
          <a:xfrm>
            <a:off x="3337560" y="2880360"/>
            <a:ext cx="2377440" cy="457200"/>
          </a:xfrm>
          <a:prstGeom prst="rect">
            <a:avLst/>
          </a:prstGeom>
          <a:noFill/>
          <a:ln/>
        </p:spPr>
        <p:txBody>
          <a:bodyPr wrap="square" rtlCol="0" anchor="ctr"/>
          <a:lstStyle/>
          <a:p>
            <a:pPr marL="0" indent="0">
              <a:buNone/>
            </a:pPr>
            <a:r>
              <a:rPr lang="en-US" sz="800" dirty="0">
                <a:solidFill>
                  <a:srgbClr val="64748B"/>
                </a:solidFill>
              </a:rPr>
              <a:t>AI/ML models analyze transaction patterns and assign a risk score based on behavior and history.</a:t>
            </a:r>
            <a:endParaRPr lang="en-US" sz="800" dirty="0"/>
          </a:p>
        </p:txBody>
      </p:sp>
      <p:sp>
        <p:nvSpPr>
          <p:cNvPr id="30" name="Shape 28"/>
          <p:cNvSpPr/>
          <p:nvPr/>
        </p:nvSpPr>
        <p:spPr>
          <a:xfrm>
            <a:off x="6117336" y="2286000"/>
            <a:ext cx="2715768" cy="1143000"/>
          </a:xfrm>
          <a:prstGeom prst="rect">
            <a:avLst/>
          </a:prstGeom>
          <a:solidFill>
            <a:srgbClr val="FFFFFF"/>
          </a:solidFill>
          <a:ln w="12700">
            <a:solidFill>
              <a:srgbClr val="E2E8F0"/>
            </a:solidFill>
            <a:prstDash val="solid"/>
          </a:ln>
        </p:spPr>
      </p:sp>
      <p:sp>
        <p:nvSpPr>
          <p:cNvPr id="31" name="Shape 29"/>
          <p:cNvSpPr/>
          <p:nvPr/>
        </p:nvSpPr>
        <p:spPr>
          <a:xfrm>
            <a:off x="6254496" y="2423160"/>
            <a:ext cx="384048" cy="384048"/>
          </a:xfrm>
          <a:prstGeom prst="ellipse">
            <a:avLst/>
          </a:prstGeom>
          <a:solidFill>
            <a:srgbClr val="F1F5F9"/>
          </a:solidFill>
          <a:ln/>
        </p:spPr>
      </p:sp>
      <p:sp>
        <p:nvSpPr>
          <p:cNvPr id="32" name="Text 30"/>
          <p:cNvSpPr/>
          <p:nvPr/>
        </p:nvSpPr>
        <p:spPr>
          <a:xfrm>
            <a:off x="6254496" y="2423160"/>
            <a:ext cx="384048" cy="384048"/>
          </a:xfrm>
          <a:prstGeom prst="rect">
            <a:avLst/>
          </a:prstGeom>
          <a:noFill/>
          <a:ln/>
        </p:spPr>
        <p:txBody>
          <a:bodyPr wrap="square" rtlCol="0" anchor="ctr"/>
          <a:lstStyle/>
          <a:p>
            <a:pPr marL="0" indent="0" algn="ctr">
              <a:buNone/>
            </a:pPr>
            <a:r>
              <a:rPr lang="en-US" sz="900" b="1" dirty="0">
                <a:solidFill>
                  <a:srgbClr val="0070C0"/>
                </a:solidFill>
              </a:rPr>
              <a:t>6</a:t>
            </a:r>
            <a:endParaRPr lang="en-US" sz="900" dirty="0">
              <a:solidFill>
                <a:srgbClr val="0070C0"/>
              </a:solidFill>
            </a:endParaRPr>
          </a:p>
        </p:txBody>
      </p:sp>
      <p:sp>
        <p:nvSpPr>
          <p:cNvPr id="33" name="Text 31"/>
          <p:cNvSpPr/>
          <p:nvPr/>
        </p:nvSpPr>
        <p:spPr>
          <a:xfrm>
            <a:off x="6711696" y="2423160"/>
            <a:ext cx="1965960" cy="384048"/>
          </a:xfrm>
          <a:prstGeom prst="rect">
            <a:avLst/>
          </a:prstGeom>
          <a:noFill/>
          <a:ln/>
        </p:spPr>
        <p:txBody>
          <a:bodyPr wrap="square" rtlCol="0" anchor="ctr"/>
          <a:lstStyle/>
          <a:p>
            <a:pPr marL="0" indent="0">
              <a:buNone/>
            </a:pPr>
            <a:r>
              <a:rPr lang="en-US" sz="950" b="1" dirty="0">
                <a:solidFill>
                  <a:srgbClr val="1E293B"/>
                </a:solidFill>
              </a:rPr>
              <a:t>Decision Making</a:t>
            </a:r>
            <a:endParaRPr lang="en-US" sz="950" dirty="0"/>
          </a:p>
        </p:txBody>
      </p:sp>
      <p:sp>
        <p:nvSpPr>
          <p:cNvPr id="34" name="Text 32"/>
          <p:cNvSpPr/>
          <p:nvPr/>
        </p:nvSpPr>
        <p:spPr>
          <a:xfrm>
            <a:off x="6281928" y="2880360"/>
            <a:ext cx="2377440" cy="457200"/>
          </a:xfrm>
          <a:prstGeom prst="rect">
            <a:avLst/>
          </a:prstGeom>
          <a:noFill/>
          <a:ln/>
        </p:spPr>
        <p:txBody>
          <a:bodyPr wrap="square" rtlCol="0" anchor="ctr"/>
          <a:lstStyle/>
          <a:p>
            <a:pPr marL="0" indent="0">
              <a:buNone/>
            </a:pPr>
            <a:r>
              <a:rPr lang="en-US" sz="800" dirty="0">
                <a:solidFill>
                  <a:srgbClr val="64748B"/>
                </a:solidFill>
              </a:rPr>
              <a:t>Low risk → Approved. Medium/High risk → Flagged for review.</a:t>
            </a:r>
            <a:endParaRPr lang="en-US" sz="800" dirty="0"/>
          </a:p>
        </p:txBody>
      </p:sp>
      <p:sp>
        <p:nvSpPr>
          <p:cNvPr id="35" name="Shape 33"/>
          <p:cNvSpPr/>
          <p:nvPr/>
        </p:nvSpPr>
        <p:spPr>
          <a:xfrm>
            <a:off x="228600" y="3520440"/>
            <a:ext cx="2715768" cy="1143000"/>
          </a:xfrm>
          <a:prstGeom prst="rect">
            <a:avLst/>
          </a:prstGeom>
          <a:solidFill>
            <a:srgbClr val="FFFFFF"/>
          </a:solidFill>
          <a:ln w="12700">
            <a:solidFill>
              <a:srgbClr val="E2E8F0"/>
            </a:solidFill>
            <a:prstDash val="solid"/>
          </a:ln>
        </p:spPr>
      </p:sp>
      <p:sp>
        <p:nvSpPr>
          <p:cNvPr id="36" name="Shape 34"/>
          <p:cNvSpPr/>
          <p:nvPr/>
        </p:nvSpPr>
        <p:spPr>
          <a:xfrm>
            <a:off x="365760" y="3657600"/>
            <a:ext cx="384048" cy="384048"/>
          </a:xfrm>
          <a:prstGeom prst="ellipse">
            <a:avLst/>
          </a:prstGeom>
          <a:solidFill>
            <a:srgbClr val="F1F5F9"/>
          </a:solidFill>
          <a:ln/>
        </p:spPr>
      </p:sp>
      <p:sp>
        <p:nvSpPr>
          <p:cNvPr id="37" name="Text 35"/>
          <p:cNvSpPr/>
          <p:nvPr/>
        </p:nvSpPr>
        <p:spPr>
          <a:xfrm>
            <a:off x="365760" y="3657600"/>
            <a:ext cx="384048" cy="384048"/>
          </a:xfrm>
          <a:prstGeom prst="rect">
            <a:avLst/>
          </a:prstGeom>
          <a:noFill/>
          <a:ln/>
        </p:spPr>
        <p:txBody>
          <a:bodyPr wrap="square" rtlCol="0" anchor="ctr"/>
          <a:lstStyle/>
          <a:p>
            <a:pPr marL="0" indent="0" algn="ctr">
              <a:buNone/>
            </a:pPr>
            <a:r>
              <a:rPr lang="en-US" sz="900" b="1" dirty="0">
                <a:solidFill>
                  <a:srgbClr val="0070C0"/>
                </a:solidFill>
              </a:rPr>
              <a:t>7</a:t>
            </a:r>
            <a:endParaRPr lang="en-US" sz="900" dirty="0">
              <a:solidFill>
                <a:srgbClr val="0070C0"/>
              </a:solidFill>
            </a:endParaRPr>
          </a:p>
        </p:txBody>
      </p:sp>
      <p:sp>
        <p:nvSpPr>
          <p:cNvPr id="38" name="Text 36"/>
          <p:cNvSpPr/>
          <p:nvPr/>
        </p:nvSpPr>
        <p:spPr>
          <a:xfrm>
            <a:off x="822960" y="3657600"/>
            <a:ext cx="1965960" cy="384048"/>
          </a:xfrm>
          <a:prstGeom prst="rect">
            <a:avLst/>
          </a:prstGeom>
          <a:noFill/>
          <a:ln/>
        </p:spPr>
        <p:txBody>
          <a:bodyPr wrap="square" rtlCol="0" anchor="ctr"/>
          <a:lstStyle/>
          <a:p>
            <a:pPr marL="0" indent="0">
              <a:buNone/>
            </a:pPr>
            <a:r>
              <a:rPr lang="en-US" sz="950" b="1" dirty="0">
                <a:solidFill>
                  <a:srgbClr val="1E293B"/>
                </a:solidFill>
              </a:rPr>
              <a:t>Alert Generation</a:t>
            </a:r>
            <a:endParaRPr lang="en-US" sz="950" dirty="0"/>
          </a:p>
        </p:txBody>
      </p:sp>
      <p:sp>
        <p:nvSpPr>
          <p:cNvPr id="39" name="Text 37"/>
          <p:cNvSpPr/>
          <p:nvPr/>
        </p:nvSpPr>
        <p:spPr>
          <a:xfrm>
            <a:off x="393192" y="4114800"/>
            <a:ext cx="2377440" cy="457200"/>
          </a:xfrm>
          <a:prstGeom prst="rect">
            <a:avLst/>
          </a:prstGeom>
          <a:noFill/>
          <a:ln/>
        </p:spPr>
        <p:txBody>
          <a:bodyPr wrap="square" rtlCol="0" anchor="ctr"/>
          <a:lstStyle/>
          <a:p>
            <a:pPr marL="0" indent="0">
              <a:buNone/>
            </a:pPr>
            <a:r>
              <a:rPr lang="en-US" sz="800" dirty="0">
                <a:solidFill>
                  <a:srgbClr val="64748B"/>
                </a:solidFill>
              </a:rPr>
              <a:t>Suspicious transactions trigger alerts to compliance teams and regulators.</a:t>
            </a:r>
            <a:endParaRPr lang="en-US" sz="800" dirty="0"/>
          </a:p>
        </p:txBody>
      </p:sp>
      <p:sp>
        <p:nvSpPr>
          <p:cNvPr id="40" name="Shape 38"/>
          <p:cNvSpPr/>
          <p:nvPr/>
        </p:nvSpPr>
        <p:spPr>
          <a:xfrm>
            <a:off x="3172968" y="3520440"/>
            <a:ext cx="2715768" cy="1143000"/>
          </a:xfrm>
          <a:prstGeom prst="rect">
            <a:avLst/>
          </a:prstGeom>
          <a:solidFill>
            <a:srgbClr val="FFFFFF"/>
          </a:solidFill>
          <a:ln w="12700">
            <a:solidFill>
              <a:srgbClr val="E2E8F0"/>
            </a:solidFill>
            <a:prstDash val="solid"/>
          </a:ln>
        </p:spPr>
      </p:sp>
      <p:sp>
        <p:nvSpPr>
          <p:cNvPr id="41" name="Shape 39"/>
          <p:cNvSpPr/>
          <p:nvPr/>
        </p:nvSpPr>
        <p:spPr>
          <a:xfrm>
            <a:off x="3310128" y="3657600"/>
            <a:ext cx="384048" cy="384048"/>
          </a:xfrm>
          <a:prstGeom prst="ellipse">
            <a:avLst/>
          </a:prstGeom>
          <a:solidFill>
            <a:srgbClr val="F1F5F9"/>
          </a:solidFill>
          <a:ln/>
        </p:spPr>
      </p:sp>
      <p:sp>
        <p:nvSpPr>
          <p:cNvPr id="42" name="Text 40"/>
          <p:cNvSpPr/>
          <p:nvPr/>
        </p:nvSpPr>
        <p:spPr>
          <a:xfrm>
            <a:off x="3310128" y="3657600"/>
            <a:ext cx="384048" cy="384048"/>
          </a:xfrm>
          <a:prstGeom prst="rect">
            <a:avLst/>
          </a:prstGeom>
          <a:noFill/>
          <a:ln/>
        </p:spPr>
        <p:txBody>
          <a:bodyPr wrap="square" rtlCol="0" anchor="ctr"/>
          <a:lstStyle/>
          <a:p>
            <a:pPr marL="0" indent="0" algn="ctr">
              <a:buNone/>
            </a:pPr>
            <a:r>
              <a:rPr lang="en-US" sz="900" b="1" dirty="0">
                <a:solidFill>
                  <a:srgbClr val="0070C0"/>
                </a:solidFill>
              </a:rPr>
              <a:t>8</a:t>
            </a:r>
            <a:endParaRPr lang="en-US" sz="900" dirty="0">
              <a:solidFill>
                <a:srgbClr val="0070C0"/>
              </a:solidFill>
            </a:endParaRPr>
          </a:p>
        </p:txBody>
      </p:sp>
      <p:sp>
        <p:nvSpPr>
          <p:cNvPr id="43" name="Text 41"/>
          <p:cNvSpPr/>
          <p:nvPr/>
        </p:nvSpPr>
        <p:spPr>
          <a:xfrm>
            <a:off x="3767328" y="3657600"/>
            <a:ext cx="1965960" cy="384048"/>
          </a:xfrm>
          <a:prstGeom prst="rect">
            <a:avLst/>
          </a:prstGeom>
          <a:noFill/>
          <a:ln/>
        </p:spPr>
        <p:txBody>
          <a:bodyPr wrap="square" rtlCol="0" anchor="ctr"/>
          <a:lstStyle/>
          <a:p>
            <a:pPr marL="0" indent="0">
              <a:buNone/>
            </a:pPr>
            <a:r>
              <a:rPr lang="en-US" sz="950" b="1" dirty="0">
                <a:solidFill>
                  <a:srgbClr val="1E293B"/>
                </a:solidFill>
              </a:rPr>
              <a:t>Regulator Monitoring</a:t>
            </a:r>
            <a:endParaRPr lang="en-US" sz="950" dirty="0"/>
          </a:p>
        </p:txBody>
      </p:sp>
      <p:sp>
        <p:nvSpPr>
          <p:cNvPr id="44" name="Text 42"/>
          <p:cNvSpPr/>
          <p:nvPr/>
        </p:nvSpPr>
        <p:spPr>
          <a:xfrm>
            <a:off x="3337560" y="4114800"/>
            <a:ext cx="2377440" cy="457200"/>
          </a:xfrm>
          <a:prstGeom prst="rect">
            <a:avLst/>
          </a:prstGeom>
          <a:noFill/>
          <a:ln/>
        </p:spPr>
        <p:txBody>
          <a:bodyPr wrap="square" rtlCol="0" anchor="ctr"/>
          <a:lstStyle/>
          <a:p>
            <a:pPr marL="0" indent="0">
              <a:buNone/>
            </a:pPr>
            <a:r>
              <a:rPr lang="en-US" sz="800" dirty="0">
                <a:solidFill>
                  <a:srgbClr val="64748B"/>
                </a:solidFill>
              </a:rPr>
              <a:t>AML authorities monitor flagged transactions through a real-time dashboard.</a:t>
            </a:r>
            <a:endParaRPr lang="en-US" sz="800" dirty="0"/>
          </a:p>
        </p:txBody>
      </p:sp>
      <p:sp>
        <p:nvSpPr>
          <p:cNvPr id="45" name="Shape 43"/>
          <p:cNvSpPr/>
          <p:nvPr/>
        </p:nvSpPr>
        <p:spPr>
          <a:xfrm>
            <a:off x="6117336" y="3520440"/>
            <a:ext cx="2715768" cy="1143000"/>
          </a:xfrm>
          <a:prstGeom prst="rect">
            <a:avLst/>
          </a:prstGeom>
          <a:solidFill>
            <a:srgbClr val="FFFFFF"/>
          </a:solidFill>
          <a:ln w="12700">
            <a:solidFill>
              <a:srgbClr val="E2E8F0"/>
            </a:solidFill>
            <a:prstDash val="solid"/>
          </a:ln>
        </p:spPr>
      </p:sp>
      <p:sp>
        <p:nvSpPr>
          <p:cNvPr id="46" name="Shape 44"/>
          <p:cNvSpPr/>
          <p:nvPr/>
        </p:nvSpPr>
        <p:spPr>
          <a:xfrm>
            <a:off x="6254496" y="3657600"/>
            <a:ext cx="384048" cy="384048"/>
          </a:xfrm>
          <a:prstGeom prst="ellipse">
            <a:avLst/>
          </a:prstGeom>
          <a:solidFill>
            <a:srgbClr val="F1F5F9"/>
          </a:solidFill>
          <a:ln/>
        </p:spPr>
      </p:sp>
      <p:sp>
        <p:nvSpPr>
          <p:cNvPr id="47" name="Text 45"/>
          <p:cNvSpPr/>
          <p:nvPr/>
        </p:nvSpPr>
        <p:spPr>
          <a:xfrm>
            <a:off x="6254496" y="3657600"/>
            <a:ext cx="384048" cy="384048"/>
          </a:xfrm>
          <a:prstGeom prst="rect">
            <a:avLst/>
          </a:prstGeom>
          <a:noFill/>
          <a:ln/>
        </p:spPr>
        <p:txBody>
          <a:bodyPr wrap="square" rtlCol="0" anchor="ctr"/>
          <a:lstStyle/>
          <a:p>
            <a:pPr marL="0" indent="0" algn="ctr">
              <a:buNone/>
            </a:pPr>
            <a:r>
              <a:rPr lang="en-US" sz="900" b="1" dirty="0">
                <a:solidFill>
                  <a:srgbClr val="64748B"/>
                </a:solidFill>
              </a:rPr>
              <a:t>9</a:t>
            </a:r>
            <a:endParaRPr lang="en-US" sz="900" dirty="0"/>
          </a:p>
        </p:txBody>
      </p:sp>
      <p:sp>
        <p:nvSpPr>
          <p:cNvPr id="48" name="Text 46"/>
          <p:cNvSpPr/>
          <p:nvPr/>
        </p:nvSpPr>
        <p:spPr>
          <a:xfrm>
            <a:off x="6711696" y="3657600"/>
            <a:ext cx="1965960" cy="384048"/>
          </a:xfrm>
          <a:prstGeom prst="rect">
            <a:avLst/>
          </a:prstGeom>
          <a:noFill/>
          <a:ln/>
        </p:spPr>
        <p:txBody>
          <a:bodyPr wrap="square" rtlCol="0" anchor="ctr"/>
          <a:lstStyle/>
          <a:p>
            <a:pPr marL="0" indent="0">
              <a:buNone/>
            </a:pPr>
            <a:r>
              <a:rPr lang="en-US" sz="950" b="1" dirty="0">
                <a:solidFill>
                  <a:srgbClr val="1E293B"/>
                </a:solidFill>
              </a:rPr>
              <a:t>Immutable Record Storage</a:t>
            </a:r>
            <a:endParaRPr lang="en-US" sz="950" dirty="0"/>
          </a:p>
        </p:txBody>
      </p:sp>
      <p:sp>
        <p:nvSpPr>
          <p:cNvPr id="49" name="Text 47"/>
          <p:cNvSpPr/>
          <p:nvPr/>
        </p:nvSpPr>
        <p:spPr>
          <a:xfrm>
            <a:off x="6281928" y="4114800"/>
            <a:ext cx="2377440" cy="457200"/>
          </a:xfrm>
          <a:prstGeom prst="rect">
            <a:avLst/>
          </a:prstGeom>
          <a:noFill/>
          <a:ln/>
        </p:spPr>
        <p:txBody>
          <a:bodyPr wrap="square" rtlCol="0" anchor="ctr"/>
          <a:lstStyle/>
          <a:p>
            <a:pPr marL="0" indent="0">
              <a:buNone/>
            </a:pPr>
            <a:r>
              <a:rPr lang="en-US" sz="800" dirty="0">
                <a:solidFill>
                  <a:srgbClr val="64748B"/>
                </a:solidFill>
              </a:rPr>
              <a:t>Final transaction status is permanently stored in the blockchain ledger.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F766E"/>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0F766E"/>
                </a:solidFill>
              </a:rPr>
              <a:t>LOGIC MODULE</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1800" b="1" dirty="0">
                <a:solidFill>
                  <a:srgbClr val="1E293B"/>
                </a:solidFill>
              </a:rPr>
              <a:t>Smart Contract Logic — Active Consensus Rules Executed In-Flight</a:t>
            </a:r>
            <a:endParaRPr lang="en-US" sz="1800" dirty="0"/>
          </a:p>
        </p:txBody>
      </p:sp>
      <p:sp>
        <p:nvSpPr>
          <p:cNvPr id="5" name="Shape 3"/>
          <p:cNvSpPr/>
          <p:nvPr/>
        </p:nvSpPr>
        <p:spPr>
          <a:xfrm>
            <a:off x="228600" y="1051560"/>
            <a:ext cx="2011680" cy="1463040"/>
          </a:xfrm>
          <a:prstGeom prst="rect">
            <a:avLst/>
          </a:prstGeom>
          <a:solidFill>
            <a:srgbClr val="FFFFFF"/>
          </a:solidFill>
          <a:ln w="12700">
            <a:solidFill>
              <a:srgbClr val="E2E8F0"/>
            </a:solidFill>
            <a:prstDash val="solid"/>
          </a:ln>
        </p:spPr>
      </p:sp>
      <p:sp>
        <p:nvSpPr>
          <p:cNvPr id="6" name="Shape 4"/>
          <p:cNvSpPr/>
          <p:nvPr/>
        </p:nvSpPr>
        <p:spPr>
          <a:xfrm>
            <a:off x="365760" y="1161288"/>
            <a:ext cx="1737360" cy="274320"/>
          </a:xfrm>
          <a:prstGeom prst="rect">
            <a:avLst/>
          </a:prstGeom>
          <a:solidFill>
            <a:srgbClr val="FEE2E2"/>
          </a:solidFill>
          <a:ln w="12700">
            <a:solidFill>
              <a:srgbClr val="FFFFFF"/>
            </a:solidFill>
            <a:prstDash val="solid"/>
          </a:ln>
        </p:spPr>
      </p:sp>
      <p:sp>
        <p:nvSpPr>
          <p:cNvPr id="7" name="Text 5"/>
          <p:cNvSpPr/>
          <p:nvPr/>
        </p:nvSpPr>
        <p:spPr>
          <a:xfrm>
            <a:off x="365760" y="1161288"/>
            <a:ext cx="1737360" cy="274320"/>
          </a:xfrm>
          <a:prstGeom prst="rect">
            <a:avLst/>
          </a:prstGeom>
          <a:noFill/>
          <a:ln/>
        </p:spPr>
        <p:txBody>
          <a:bodyPr wrap="square" rtlCol="0" anchor="ctr"/>
          <a:lstStyle/>
          <a:p>
            <a:pPr marL="0" indent="0" algn="ctr">
              <a:buNone/>
            </a:pPr>
            <a:r>
              <a:rPr lang="en-US" sz="750" b="1" dirty="0">
                <a:solidFill>
                  <a:srgbClr val="991B1B"/>
                </a:solidFill>
              </a:rPr>
              <a:t>VALUE CHECK</a:t>
            </a:r>
            <a:endParaRPr lang="en-US" sz="750" dirty="0"/>
          </a:p>
        </p:txBody>
      </p:sp>
      <p:sp>
        <p:nvSpPr>
          <p:cNvPr id="8" name="Text 6"/>
          <p:cNvSpPr/>
          <p:nvPr/>
        </p:nvSpPr>
        <p:spPr>
          <a:xfrm>
            <a:off x="365760" y="1490472"/>
            <a:ext cx="1737360" cy="256032"/>
          </a:xfrm>
          <a:prstGeom prst="rect">
            <a:avLst/>
          </a:prstGeom>
          <a:noFill/>
          <a:ln/>
        </p:spPr>
        <p:txBody>
          <a:bodyPr wrap="square" rtlCol="0" anchor="ctr"/>
          <a:lstStyle/>
          <a:p>
            <a:pPr marL="0" indent="0">
              <a:buNone/>
            </a:pPr>
            <a:r>
              <a:rPr lang="en-US" sz="950" b="1" dirty="0">
                <a:solidFill>
                  <a:srgbClr val="1E293B"/>
                </a:solidFill>
              </a:rPr>
              <a:t>Threshold Guard</a:t>
            </a:r>
            <a:endParaRPr lang="en-US" sz="950" dirty="0"/>
          </a:p>
        </p:txBody>
      </p:sp>
      <p:sp>
        <p:nvSpPr>
          <p:cNvPr id="9" name="Text 7"/>
          <p:cNvSpPr/>
          <p:nvPr/>
        </p:nvSpPr>
        <p:spPr>
          <a:xfrm>
            <a:off x="365760" y="1783080"/>
            <a:ext cx="1737360" cy="621792"/>
          </a:xfrm>
          <a:prstGeom prst="rect">
            <a:avLst/>
          </a:prstGeom>
          <a:noFill/>
          <a:ln/>
        </p:spPr>
        <p:txBody>
          <a:bodyPr wrap="square" rtlCol="0" anchor="ctr"/>
          <a:lstStyle/>
          <a:p>
            <a:pPr marL="0" indent="0">
              <a:buNone/>
            </a:pPr>
            <a:r>
              <a:rPr lang="en-US" sz="850" dirty="0">
                <a:solidFill>
                  <a:srgbClr val="64748B"/>
                </a:solidFill>
              </a:rPr>
              <a:t>If transaction amount &gt; predefined threshold (e.g., ₹10 lakh) → Flag as high risk.</a:t>
            </a:r>
            <a:endParaRPr lang="en-US" sz="850" dirty="0"/>
          </a:p>
        </p:txBody>
      </p:sp>
      <p:sp>
        <p:nvSpPr>
          <p:cNvPr id="10" name="Shape 8"/>
          <p:cNvSpPr/>
          <p:nvPr/>
        </p:nvSpPr>
        <p:spPr>
          <a:xfrm>
            <a:off x="2377440" y="1051560"/>
            <a:ext cx="2011680" cy="1463040"/>
          </a:xfrm>
          <a:prstGeom prst="rect">
            <a:avLst/>
          </a:prstGeom>
          <a:solidFill>
            <a:srgbClr val="FFFFFF"/>
          </a:solidFill>
          <a:ln w="12700">
            <a:solidFill>
              <a:srgbClr val="E2E8F0"/>
            </a:solidFill>
            <a:prstDash val="solid"/>
          </a:ln>
        </p:spPr>
      </p:sp>
      <p:sp>
        <p:nvSpPr>
          <p:cNvPr id="11" name="Shape 9"/>
          <p:cNvSpPr/>
          <p:nvPr/>
        </p:nvSpPr>
        <p:spPr>
          <a:xfrm>
            <a:off x="2514600" y="1161288"/>
            <a:ext cx="1737360" cy="274320"/>
          </a:xfrm>
          <a:prstGeom prst="rect">
            <a:avLst/>
          </a:prstGeom>
          <a:solidFill>
            <a:srgbClr val="FEE2E2"/>
          </a:solidFill>
          <a:ln w="12700">
            <a:solidFill>
              <a:srgbClr val="FFFFFF"/>
            </a:solidFill>
            <a:prstDash val="solid"/>
          </a:ln>
        </p:spPr>
      </p:sp>
      <p:sp>
        <p:nvSpPr>
          <p:cNvPr id="12" name="Text 10"/>
          <p:cNvSpPr/>
          <p:nvPr/>
        </p:nvSpPr>
        <p:spPr>
          <a:xfrm>
            <a:off x="2514600" y="1161288"/>
            <a:ext cx="1737360" cy="274320"/>
          </a:xfrm>
          <a:prstGeom prst="rect">
            <a:avLst/>
          </a:prstGeom>
          <a:noFill/>
          <a:ln/>
        </p:spPr>
        <p:txBody>
          <a:bodyPr wrap="square" rtlCol="0" anchor="ctr"/>
          <a:lstStyle/>
          <a:p>
            <a:pPr marL="0" indent="0" algn="ctr">
              <a:buNone/>
            </a:pPr>
            <a:r>
              <a:rPr lang="en-US" sz="750" b="1" dirty="0">
                <a:solidFill>
                  <a:srgbClr val="991B1B"/>
                </a:solidFill>
              </a:rPr>
              <a:t>VELOCITY CHECK</a:t>
            </a:r>
            <a:endParaRPr lang="en-US" sz="750" dirty="0"/>
          </a:p>
        </p:txBody>
      </p:sp>
      <p:sp>
        <p:nvSpPr>
          <p:cNvPr id="13" name="Text 11"/>
          <p:cNvSpPr/>
          <p:nvPr/>
        </p:nvSpPr>
        <p:spPr>
          <a:xfrm>
            <a:off x="2514600" y="1490472"/>
            <a:ext cx="1737360" cy="256032"/>
          </a:xfrm>
          <a:prstGeom prst="rect">
            <a:avLst/>
          </a:prstGeom>
          <a:noFill/>
          <a:ln/>
        </p:spPr>
        <p:txBody>
          <a:bodyPr wrap="square" rtlCol="0" anchor="ctr"/>
          <a:lstStyle/>
          <a:p>
            <a:pPr marL="0" indent="0">
              <a:buNone/>
            </a:pPr>
            <a:r>
              <a:rPr lang="en-US" sz="950" b="1" dirty="0">
                <a:solidFill>
                  <a:srgbClr val="1E293B"/>
                </a:solidFill>
              </a:rPr>
              <a:t>Velocity Alert</a:t>
            </a:r>
            <a:endParaRPr lang="en-US" sz="950" dirty="0"/>
          </a:p>
        </p:txBody>
      </p:sp>
      <p:sp>
        <p:nvSpPr>
          <p:cNvPr id="14" name="Text 12"/>
          <p:cNvSpPr/>
          <p:nvPr/>
        </p:nvSpPr>
        <p:spPr>
          <a:xfrm>
            <a:off x="2514600" y="1783080"/>
            <a:ext cx="1737360" cy="621792"/>
          </a:xfrm>
          <a:prstGeom prst="rect">
            <a:avLst/>
          </a:prstGeom>
          <a:noFill/>
          <a:ln/>
        </p:spPr>
        <p:txBody>
          <a:bodyPr wrap="square" rtlCol="0" anchor="ctr"/>
          <a:lstStyle/>
          <a:p>
            <a:pPr marL="0" indent="0">
              <a:buNone/>
            </a:pPr>
            <a:r>
              <a:rPr lang="en-US" sz="850" dirty="0">
                <a:solidFill>
                  <a:srgbClr val="64748B"/>
                </a:solidFill>
              </a:rPr>
              <a:t>If multiple rapid transactions from same account in short time → Trigger alert.</a:t>
            </a:r>
            <a:endParaRPr lang="en-US" sz="850" dirty="0"/>
          </a:p>
        </p:txBody>
      </p:sp>
      <p:sp>
        <p:nvSpPr>
          <p:cNvPr id="15" name="Shape 13"/>
          <p:cNvSpPr/>
          <p:nvPr/>
        </p:nvSpPr>
        <p:spPr>
          <a:xfrm>
            <a:off x="4526280" y="1051560"/>
            <a:ext cx="2011680" cy="1463040"/>
          </a:xfrm>
          <a:prstGeom prst="rect">
            <a:avLst/>
          </a:prstGeom>
          <a:solidFill>
            <a:srgbClr val="FFFFFF"/>
          </a:solidFill>
          <a:ln w="12700">
            <a:solidFill>
              <a:srgbClr val="E2E8F0"/>
            </a:solidFill>
            <a:prstDash val="solid"/>
          </a:ln>
        </p:spPr>
      </p:sp>
      <p:sp>
        <p:nvSpPr>
          <p:cNvPr id="16" name="Shape 14"/>
          <p:cNvSpPr/>
          <p:nvPr/>
        </p:nvSpPr>
        <p:spPr>
          <a:xfrm>
            <a:off x="4663440" y="1161288"/>
            <a:ext cx="1737360" cy="274320"/>
          </a:xfrm>
          <a:prstGeom prst="rect">
            <a:avLst/>
          </a:prstGeom>
          <a:solidFill>
            <a:srgbClr val="FEF3C7"/>
          </a:solidFill>
          <a:ln w="12700">
            <a:solidFill>
              <a:srgbClr val="FFFFFF"/>
            </a:solidFill>
            <a:prstDash val="solid"/>
          </a:ln>
        </p:spPr>
      </p:sp>
      <p:sp>
        <p:nvSpPr>
          <p:cNvPr id="17" name="Text 15"/>
          <p:cNvSpPr/>
          <p:nvPr/>
        </p:nvSpPr>
        <p:spPr>
          <a:xfrm>
            <a:off x="4663440" y="1161288"/>
            <a:ext cx="1737360" cy="274320"/>
          </a:xfrm>
          <a:prstGeom prst="rect">
            <a:avLst/>
          </a:prstGeom>
          <a:noFill/>
          <a:ln/>
        </p:spPr>
        <p:txBody>
          <a:bodyPr wrap="square" rtlCol="0" anchor="ctr"/>
          <a:lstStyle/>
          <a:p>
            <a:pPr marL="0" indent="0" algn="ctr">
              <a:buNone/>
            </a:pPr>
            <a:r>
              <a:rPr lang="en-US" sz="750" b="1" dirty="0">
                <a:solidFill>
                  <a:srgbClr val="92400E"/>
                </a:solidFill>
              </a:rPr>
              <a:t>SOVEREIGN STATE</a:t>
            </a:r>
            <a:endParaRPr lang="en-US" sz="750" dirty="0"/>
          </a:p>
        </p:txBody>
      </p:sp>
      <p:sp>
        <p:nvSpPr>
          <p:cNvPr id="18" name="Text 16"/>
          <p:cNvSpPr/>
          <p:nvPr/>
        </p:nvSpPr>
        <p:spPr>
          <a:xfrm>
            <a:off x="4663440" y="1490472"/>
            <a:ext cx="1737360" cy="256032"/>
          </a:xfrm>
          <a:prstGeom prst="rect">
            <a:avLst/>
          </a:prstGeom>
          <a:noFill/>
          <a:ln/>
        </p:spPr>
        <p:txBody>
          <a:bodyPr wrap="square" rtlCol="0" anchor="ctr"/>
          <a:lstStyle/>
          <a:p>
            <a:pPr marL="0" indent="0">
              <a:buNone/>
            </a:pPr>
            <a:r>
              <a:rPr lang="en-US" sz="950" b="1" dirty="0">
                <a:solidFill>
                  <a:srgbClr val="1E293B"/>
                </a:solidFill>
              </a:rPr>
              <a:t>Sovereign Risk Check</a:t>
            </a:r>
            <a:endParaRPr lang="en-US" sz="950" dirty="0"/>
          </a:p>
        </p:txBody>
      </p:sp>
      <p:sp>
        <p:nvSpPr>
          <p:cNvPr id="19" name="Text 17"/>
          <p:cNvSpPr/>
          <p:nvPr/>
        </p:nvSpPr>
        <p:spPr>
          <a:xfrm>
            <a:off x="4663440" y="1783080"/>
            <a:ext cx="1737360" cy="621792"/>
          </a:xfrm>
          <a:prstGeom prst="rect">
            <a:avLst/>
          </a:prstGeom>
          <a:noFill/>
          <a:ln/>
        </p:spPr>
        <p:txBody>
          <a:bodyPr wrap="square" rtlCol="0" anchor="ctr"/>
          <a:lstStyle/>
          <a:p>
            <a:pPr marL="0" indent="0">
              <a:buNone/>
            </a:pPr>
            <a:r>
              <a:rPr lang="en-US" sz="850" dirty="0">
                <a:solidFill>
                  <a:srgbClr val="64748B"/>
                </a:solidFill>
              </a:rPr>
              <a:t>If transaction involves high-risk country/entity → Increase risk score.</a:t>
            </a:r>
            <a:endParaRPr lang="en-US" sz="850" dirty="0"/>
          </a:p>
        </p:txBody>
      </p:sp>
      <p:sp>
        <p:nvSpPr>
          <p:cNvPr id="20" name="Shape 18"/>
          <p:cNvSpPr/>
          <p:nvPr/>
        </p:nvSpPr>
        <p:spPr>
          <a:xfrm>
            <a:off x="6675120" y="1051560"/>
            <a:ext cx="2011680" cy="1463040"/>
          </a:xfrm>
          <a:prstGeom prst="rect">
            <a:avLst/>
          </a:prstGeom>
          <a:solidFill>
            <a:srgbClr val="FFFFFF"/>
          </a:solidFill>
          <a:ln w="12700">
            <a:solidFill>
              <a:srgbClr val="E2E8F0"/>
            </a:solidFill>
            <a:prstDash val="solid"/>
          </a:ln>
        </p:spPr>
      </p:sp>
      <p:sp>
        <p:nvSpPr>
          <p:cNvPr id="21" name="Shape 19"/>
          <p:cNvSpPr/>
          <p:nvPr/>
        </p:nvSpPr>
        <p:spPr>
          <a:xfrm>
            <a:off x="6812280" y="1161288"/>
            <a:ext cx="1737360" cy="274320"/>
          </a:xfrm>
          <a:prstGeom prst="rect">
            <a:avLst/>
          </a:prstGeom>
          <a:solidFill>
            <a:srgbClr val="FEF3C7"/>
          </a:solidFill>
          <a:ln w="12700">
            <a:solidFill>
              <a:srgbClr val="FFFFFF"/>
            </a:solidFill>
            <a:prstDash val="solid"/>
          </a:ln>
        </p:spPr>
      </p:sp>
      <p:sp>
        <p:nvSpPr>
          <p:cNvPr id="22" name="Text 20"/>
          <p:cNvSpPr/>
          <p:nvPr/>
        </p:nvSpPr>
        <p:spPr>
          <a:xfrm>
            <a:off x="6812280" y="1161288"/>
            <a:ext cx="1737360" cy="274320"/>
          </a:xfrm>
          <a:prstGeom prst="rect">
            <a:avLst/>
          </a:prstGeom>
          <a:noFill/>
          <a:ln/>
        </p:spPr>
        <p:txBody>
          <a:bodyPr wrap="square" rtlCol="0" anchor="ctr"/>
          <a:lstStyle/>
          <a:p>
            <a:pPr marL="0" indent="0" algn="ctr">
              <a:buNone/>
            </a:pPr>
            <a:r>
              <a:rPr lang="en-US" sz="750" b="1" dirty="0">
                <a:solidFill>
                  <a:srgbClr val="92400E"/>
                </a:solidFill>
              </a:rPr>
              <a:t>STRUCTURING CHECK</a:t>
            </a:r>
            <a:endParaRPr lang="en-US" sz="750" dirty="0"/>
          </a:p>
        </p:txBody>
      </p:sp>
      <p:sp>
        <p:nvSpPr>
          <p:cNvPr id="23" name="Text 21"/>
          <p:cNvSpPr/>
          <p:nvPr/>
        </p:nvSpPr>
        <p:spPr>
          <a:xfrm>
            <a:off x="6812280" y="1490472"/>
            <a:ext cx="1737360" cy="256032"/>
          </a:xfrm>
          <a:prstGeom prst="rect">
            <a:avLst/>
          </a:prstGeom>
          <a:noFill/>
          <a:ln/>
        </p:spPr>
        <p:txBody>
          <a:bodyPr wrap="square" rtlCol="0" anchor="ctr"/>
          <a:lstStyle/>
          <a:p>
            <a:pPr marL="0" indent="0">
              <a:buNone/>
            </a:pPr>
            <a:r>
              <a:rPr lang="en-US" sz="950" b="1" dirty="0">
                <a:solidFill>
                  <a:srgbClr val="1E293B"/>
                </a:solidFill>
              </a:rPr>
              <a:t>Structuring Sentinel</a:t>
            </a:r>
            <a:endParaRPr lang="en-US" sz="950" dirty="0"/>
          </a:p>
        </p:txBody>
      </p:sp>
      <p:sp>
        <p:nvSpPr>
          <p:cNvPr id="24" name="Text 22"/>
          <p:cNvSpPr/>
          <p:nvPr/>
        </p:nvSpPr>
        <p:spPr>
          <a:xfrm>
            <a:off x="6812280" y="1783080"/>
            <a:ext cx="1737360" cy="621792"/>
          </a:xfrm>
          <a:prstGeom prst="rect">
            <a:avLst/>
          </a:prstGeom>
          <a:noFill/>
          <a:ln/>
        </p:spPr>
        <p:txBody>
          <a:bodyPr wrap="square" rtlCol="0" anchor="ctr"/>
          <a:lstStyle/>
          <a:p>
            <a:pPr marL="0" indent="0">
              <a:buNone/>
            </a:pPr>
            <a:r>
              <a:rPr lang="en-US" sz="850" dirty="0">
                <a:solidFill>
                  <a:srgbClr val="64748B"/>
                </a:solidFill>
              </a:rPr>
              <a:t>If funds are split into multiple small transactions (structuring) → Mark as suspicious.</a:t>
            </a:r>
            <a:endParaRPr lang="en-US" sz="850" dirty="0"/>
          </a:p>
        </p:txBody>
      </p:sp>
      <p:sp>
        <p:nvSpPr>
          <p:cNvPr id="25" name="Shape 23"/>
          <p:cNvSpPr/>
          <p:nvPr/>
        </p:nvSpPr>
        <p:spPr>
          <a:xfrm>
            <a:off x="228600" y="2651760"/>
            <a:ext cx="2011680" cy="1463040"/>
          </a:xfrm>
          <a:prstGeom prst="rect">
            <a:avLst/>
          </a:prstGeom>
          <a:solidFill>
            <a:srgbClr val="FFFFFF"/>
          </a:solidFill>
          <a:ln w="12700">
            <a:solidFill>
              <a:srgbClr val="E2E8F0"/>
            </a:solidFill>
            <a:prstDash val="solid"/>
          </a:ln>
        </p:spPr>
      </p:sp>
      <p:sp>
        <p:nvSpPr>
          <p:cNvPr id="26" name="Shape 24"/>
          <p:cNvSpPr/>
          <p:nvPr/>
        </p:nvSpPr>
        <p:spPr>
          <a:xfrm>
            <a:off x="365760" y="2761488"/>
            <a:ext cx="1737360" cy="274320"/>
          </a:xfrm>
          <a:prstGeom prst="rect">
            <a:avLst/>
          </a:prstGeom>
          <a:solidFill>
            <a:srgbClr val="DBEAFE"/>
          </a:solidFill>
          <a:ln w="12700">
            <a:solidFill>
              <a:srgbClr val="FFFFFF"/>
            </a:solidFill>
            <a:prstDash val="solid"/>
          </a:ln>
        </p:spPr>
      </p:sp>
      <p:sp>
        <p:nvSpPr>
          <p:cNvPr id="27" name="Text 25"/>
          <p:cNvSpPr/>
          <p:nvPr/>
        </p:nvSpPr>
        <p:spPr>
          <a:xfrm>
            <a:off x="365760" y="2761488"/>
            <a:ext cx="1737360" cy="274320"/>
          </a:xfrm>
          <a:prstGeom prst="rect">
            <a:avLst/>
          </a:prstGeom>
          <a:noFill/>
          <a:ln/>
        </p:spPr>
        <p:txBody>
          <a:bodyPr wrap="square" rtlCol="0" anchor="ctr"/>
          <a:lstStyle/>
          <a:p>
            <a:pPr marL="0" indent="0" algn="ctr">
              <a:buNone/>
            </a:pPr>
            <a:r>
              <a:rPr lang="en-US" sz="750" b="1" dirty="0">
                <a:solidFill>
                  <a:srgbClr val="1E40AF"/>
                </a:solidFill>
              </a:rPr>
              <a:t>ANOMALY CHECK</a:t>
            </a:r>
            <a:endParaRPr lang="en-US" sz="750" dirty="0"/>
          </a:p>
        </p:txBody>
      </p:sp>
      <p:sp>
        <p:nvSpPr>
          <p:cNvPr id="28" name="Text 26"/>
          <p:cNvSpPr/>
          <p:nvPr/>
        </p:nvSpPr>
        <p:spPr>
          <a:xfrm>
            <a:off x="365760" y="3090672"/>
            <a:ext cx="1737360" cy="256032"/>
          </a:xfrm>
          <a:prstGeom prst="rect">
            <a:avLst/>
          </a:prstGeom>
          <a:noFill/>
          <a:ln/>
        </p:spPr>
        <p:txBody>
          <a:bodyPr wrap="square" rtlCol="0" anchor="ctr"/>
          <a:lstStyle/>
          <a:p>
            <a:pPr marL="0" indent="0">
              <a:buNone/>
            </a:pPr>
            <a:r>
              <a:rPr lang="en-US" sz="950" b="1" dirty="0">
                <a:solidFill>
                  <a:srgbClr val="1E293B"/>
                </a:solidFill>
              </a:rPr>
              <a:t>Behavior Warnings</a:t>
            </a:r>
            <a:endParaRPr lang="en-US" sz="950" dirty="0"/>
          </a:p>
        </p:txBody>
      </p:sp>
      <p:sp>
        <p:nvSpPr>
          <p:cNvPr id="29" name="Text 27"/>
          <p:cNvSpPr/>
          <p:nvPr/>
        </p:nvSpPr>
        <p:spPr>
          <a:xfrm>
            <a:off x="365760" y="3383280"/>
            <a:ext cx="1737360" cy="621792"/>
          </a:xfrm>
          <a:prstGeom prst="rect">
            <a:avLst/>
          </a:prstGeom>
          <a:noFill/>
          <a:ln/>
        </p:spPr>
        <p:txBody>
          <a:bodyPr wrap="square" rtlCol="0" anchor="ctr"/>
          <a:lstStyle/>
          <a:p>
            <a:pPr marL="0" indent="0">
              <a:buNone/>
            </a:pPr>
            <a:r>
              <a:rPr lang="en-US" sz="850" dirty="0">
                <a:solidFill>
                  <a:srgbClr val="64748B"/>
                </a:solidFill>
              </a:rPr>
              <a:t>If unusual transaction pattern compared to user history → Generate warning.</a:t>
            </a:r>
            <a:endParaRPr lang="en-US" sz="850" dirty="0"/>
          </a:p>
        </p:txBody>
      </p:sp>
      <p:sp>
        <p:nvSpPr>
          <p:cNvPr id="30" name="Shape 28"/>
          <p:cNvSpPr/>
          <p:nvPr/>
        </p:nvSpPr>
        <p:spPr>
          <a:xfrm>
            <a:off x="2377440" y="2651760"/>
            <a:ext cx="2011680" cy="1463040"/>
          </a:xfrm>
          <a:prstGeom prst="rect">
            <a:avLst/>
          </a:prstGeom>
          <a:solidFill>
            <a:srgbClr val="FFFFFF"/>
          </a:solidFill>
          <a:ln w="12700">
            <a:solidFill>
              <a:srgbClr val="E2E8F0"/>
            </a:solidFill>
            <a:prstDash val="solid"/>
          </a:ln>
        </p:spPr>
      </p:sp>
      <p:sp>
        <p:nvSpPr>
          <p:cNvPr id="31" name="Shape 29"/>
          <p:cNvSpPr/>
          <p:nvPr/>
        </p:nvSpPr>
        <p:spPr>
          <a:xfrm>
            <a:off x="2514600" y="2761488"/>
            <a:ext cx="1737360" cy="274320"/>
          </a:xfrm>
          <a:prstGeom prst="rect">
            <a:avLst/>
          </a:prstGeom>
          <a:solidFill>
            <a:srgbClr val="DBEAFE"/>
          </a:solidFill>
          <a:ln w="12700">
            <a:solidFill>
              <a:srgbClr val="FFFFFF"/>
            </a:solidFill>
            <a:prstDash val="solid"/>
          </a:ln>
        </p:spPr>
      </p:sp>
      <p:sp>
        <p:nvSpPr>
          <p:cNvPr id="32" name="Text 30"/>
          <p:cNvSpPr/>
          <p:nvPr/>
        </p:nvSpPr>
        <p:spPr>
          <a:xfrm>
            <a:off x="2514600" y="2761488"/>
            <a:ext cx="1737360" cy="274320"/>
          </a:xfrm>
          <a:prstGeom prst="rect">
            <a:avLst/>
          </a:prstGeom>
          <a:noFill/>
          <a:ln/>
        </p:spPr>
        <p:txBody>
          <a:bodyPr wrap="square" rtlCol="0" anchor="ctr"/>
          <a:lstStyle/>
          <a:p>
            <a:pPr marL="0" indent="0" algn="ctr">
              <a:buNone/>
            </a:pPr>
            <a:r>
              <a:rPr lang="en-US" sz="750" b="1" dirty="0">
                <a:solidFill>
                  <a:srgbClr val="1E40AF"/>
                </a:solidFill>
              </a:rPr>
              <a:t>INCUBATION CHECK</a:t>
            </a:r>
            <a:endParaRPr lang="en-US" sz="750" dirty="0"/>
          </a:p>
        </p:txBody>
      </p:sp>
      <p:sp>
        <p:nvSpPr>
          <p:cNvPr id="33" name="Text 31"/>
          <p:cNvSpPr/>
          <p:nvPr/>
        </p:nvSpPr>
        <p:spPr>
          <a:xfrm>
            <a:off x="2514600" y="3090672"/>
            <a:ext cx="1737360" cy="256032"/>
          </a:xfrm>
          <a:prstGeom prst="rect">
            <a:avLst/>
          </a:prstGeom>
          <a:noFill/>
          <a:ln/>
        </p:spPr>
        <p:txBody>
          <a:bodyPr wrap="square" rtlCol="0" anchor="ctr"/>
          <a:lstStyle/>
          <a:p>
            <a:pPr marL="0" indent="0">
              <a:buNone/>
            </a:pPr>
            <a:r>
              <a:rPr lang="en-US" sz="950" b="1" dirty="0">
                <a:solidFill>
                  <a:srgbClr val="1E293B"/>
                </a:solidFill>
              </a:rPr>
              <a:t>Incubation Checks</a:t>
            </a:r>
            <a:endParaRPr lang="en-US" sz="950" dirty="0"/>
          </a:p>
        </p:txBody>
      </p:sp>
      <p:sp>
        <p:nvSpPr>
          <p:cNvPr id="34" name="Text 32"/>
          <p:cNvSpPr/>
          <p:nvPr/>
        </p:nvSpPr>
        <p:spPr>
          <a:xfrm>
            <a:off x="2514600" y="3383280"/>
            <a:ext cx="1737360" cy="621792"/>
          </a:xfrm>
          <a:prstGeom prst="rect">
            <a:avLst/>
          </a:prstGeom>
          <a:noFill/>
          <a:ln/>
        </p:spPr>
        <p:txBody>
          <a:bodyPr wrap="square" rtlCol="0" anchor="ctr"/>
          <a:lstStyle/>
          <a:p>
            <a:pPr marL="0" indent="0">
              <a:buNone/>
            </a:pPr>
            <a:r>
              <a:rPr lang="en-US" sz="850" dirty="0">
                <a:solidFill>
                  <a:srgbClr val="64748B"/>
                </a:solidFill>
              </a:rPr>
              <a:t>If account is newly created and high-value transfer occurs → Flag for verification.</a:t>
            </a:r>
            <a:endParaRPr lang="en-US" sz="850" dirty="0"/>
          </a:p>
        </p:txBody>
      </p:sp>
      <p:sp>
        <p:nvSpPr>
          <p:cNvPr id="35" name="Shape 33"/>
          <p:cNvSpPr/>
          <p:nvPr/>
        </p:nvSpPr>
        <p:spPr>
          <a:xfrm>
            <a:off x="4526280" y="2651760"/>
            <a:ext cx="2011680" cy="1463040"/>
          </a:xfrm>
          <a:prstGeom prst="rect">
            <a:avLst/>
          </a:prstGeom>
          <a:solidFill>
            <a:srgbClr val="FFFFFF"/>
          </a:solidFill>
          <a:ln w="12700">
            <a:solidFill>
              <a:srgbClr val="E2E8F0"/>
            </a:solidFill>
            <a:prstDash val="solid"/>
          </a:ln>
        </p:spPr>
      </p:sp>
      <p:sp>
        <p:nvSpPr>
          <p:cNvPr id="36" name="Shape 34"/>
          <p:cNvSpPr/>
          <p:nvPr/>
        </p:nvSpPr>
        <p:spPr>
          <a:xfrm>
            <a:off x="4663440" y="2761488"/>
            <a:ext cx="1737360" cy="274320"/>
          </a:xfrm>
          <a:prstGeom prst="rect">
            <a:avLst/>
          </a:prstGeom>
          <a:solidFill>
            <a:srgbClr val="FEE2E2"/>
          </a:solidFill>
          <a:ln w="12700">
            <a:solidFill>
              <a:srgbClr val="FFFFFF"/>
            </a:solidFill>
            <a:prstDash val="solid"/>
          </a:ln>
        </p:spPr>
      </p:sp>
      <p:sp>
        <p:nvSpPr>
          <p:cNvPr id="37" name="Text 35"/>
          <p:cNvSpPr/>
          <p:nvPr/>
        </p:nvSpPr>
        <p:spPr>
          <a:xfrm>
            <a:off x="4663440" y="2761488"/>
            <a:ext cx="1737360" cy="274320"/>
          </a:xfrm>
          <a:prstGeom prst="rect">
            <a:avLst/>
          </a:prstGeom>
          <a:noFill/>
          <a:ln/>
        </p:spPr>
        <p:txBody>
          <a:bodyPr wrap="square" rtlCol="0" anchor="ctr"/>
          <a:lstStyle/>
          <a:p>
            <a:pPr marL="0" indent="0" algn="ctr">
              <a:buNone/>
            </a:pPr>
            <a:r>
              <a:rPr lang="en-US" sz="750" b="1" dirty="0">
                <a:solidFill>
                  <a:srgbClr val="991B1B"/>
                </a:solidFill>
              </a:rPr>
              <a:t>HALT EXECUTION</a:t>
            </a:r>
            <a:endParaRPr lang="en-US" sz="750" dirty="0"/>
          </a:p>
        </p:txBody>
      </p:sp>
      <p:sp>
        <p:nvSpPr>
          <p:cNvPr id="38" name="Text 36"/>
          <p:cNvSpPr/>
          <p:nvPr/>
        </p:nvSpPr>
        <p:spPr>
          <a:xfrm>
            <a:off x="4663440" y="3090672"/>
            <a:ext cx="1737360" cy="256032"/>
          </a:xfrm>
          <a:prstGeom prst="rect">
            <a:avLst/>
          </a:prstGeom>
          <a:noFill/>
          <a:ln/>
        </p:spPr>
        <p:txBody>
          <a:bodyPr wrap="square" rtlCol="0" anchor="ctr"/>
          <a:lstStyle/>
          <a:p>
            <a:pPr marL="0" indent="0">
              <a:buNone/>
            </a:pPr>
            <a:r>
              <a:rPr lang="en-US" sz="950" b="1" dirty="0">
                <a:solidFill>
                  <a:srgbClr val="1E293B"/>
                </a:solidFill>
              </a:rPr>
              <a:t>Sanction Enforcement</a:t>
            </a:r>
            <a:endParaRPr lang="en-US" sz="950" dirty="0"/>
          </a:p>
        </p:txBody>
      </p:sp>
      <p:sp>
        <p:nvSpPr>
          <p:cNvPr id="39" name="Text 37"/>
          <p:cNvSpPr/>
          <p:nvPr/>
        </p:nvSpPr>
        <p:spPr>
          <a:xfrm>
            <a:off x="4663440" y="3383280"/>
            <a:ext cx="1737360" cy="621792"/>
          </a:xfrm>
          <a:prstGeom prst="rect">
            <a:avLst/>
          </a:prstGeom>
          <a:noFill/>
          <a:ln/>
        </p:spPr>
        <p:txBody>
          <a:bodyPr wrap="square" rtlCol="0" anchor="ctr"/>
          <a:lstStyle/>
          <a:p>
            <a:pPr marL="0" indent="0">
              <a:buNone/>
            </a:pPr>
            <a:r>
              <a:rPr lang="en-US" sz="850" dirty="0">
                <a:solidFill>
                  <a:srgbClr val="64748B"/>
                </a:solidFill>
              </a:rPr>
              <a:t>If blacklisted wallet/account is involved → Block transaction immediately.</a:t>
            </a:r>
            <a:endParaRPr lang="en-US" sz="850" dirty="0"/>
          </a:p>
        </p:txBody>
      </p:sp>
      <p:sp>
        <p:nvSpPr>
          <p:cNvPr id="40" name="Shape 38"/>
          <p:cNvSpPr/>
          <p:nvPr/>
        </p:nvSpPr>
        <p:spPr>
          <a:xfrm>
            <a:off x="6675120" y="2651760"/>
            <a:ext cx="2011680" cy="1463040"/>
          </a:xfrm>
          <a:prstGeom prst="rect">
            <a:avLst/>
          </a:prstGeom>
          <a:solidFill>
            <a:srgbClr val="FFFFFF"/>
          </a:solidFill>
          <a:ln w="12700">
            <a:solidFill>
              <a:srgbClr val="E2E8F0"/>
            </a:solidFill>
            <a:prstDash val="solid"/>
          </a:ln>
        </p:spPr>
      </p:sp>
      <p:sp>
        <p:nvSpPr>
          <p:cNvPr id="41" name="Shape 39"/>
          <p:cNvSpPr/>
          <p:nvPr/>
        </p:nvSpPr>
        <p:spPr>
          <a:xfrm>
            <a:off x="6812280" y="2761488"/>
            <a:ext cx="1737360" cy="274320"/>
          </a:xfrm>
          <a:prstGeom prst="rect">
            <a:avLst/>
          </a:prstGeom>
          <a:solidFill>
            <a:srgbClr val="F3E8FF"/>
          </a:solidFill>
          <a:ln w="12700">
            <a:solidFill>
              <a:srgbClr val="FFFFFF"/>
            </a:solidFill>
            <a:prstDash val="solid"/>
          </a:ln>
        </p:spPr>
      </p:sp>
      <p:sp>
        <p:nvSpPr>
          <p:cNvPr id="42" name="Text 40"/>
          <p:cNvSpPr/>
          <p:nvPr/>
        </p:nvSpPr>
        <p:spPr>
          <a:xfrm>
            <a:off x="6812280" y="2761488"/>
            <a:ext cx="1737360" cy="274320"/>
          </a:xfrm>
          <a:prstGeom prst="rect">
            <a:avLst/>
          </a:prstGeom>
          <a:noFill/>
          <a:ln/>
        </p:spPr>
        <p:txBody>
          <a:bodyPr wrap="square" rtlCol="0" anchor="ctr"/>
          <a:lstStyle/>
          <a:p>
            <a:pPr marL="0" indent="0" algn="ctr">
              <a:buNone/>
            </a:pPr>
            <a:r>
              <a:rPr lang="en-US" sz="750" b="1" dirty="0">
                <a:solidFill>
                  <a:srgbClr val="581C87"/>
                </a:solidFill>
              </a:rPr>
              <a:t>REGULATORY ROUTING</a:t>
            </a:r>
            <a:endParaRPr lang="en-US" sz="750" dirty="0"/>
          </a:p>
        </p:txBody>
      </p:sp>
      <p:sp>
        <p:nvSpPr>
          <p:cNvPr id="43" name="Text 41"/>
          <p:cNvSpPr/>
          <p:nvPr/>
        </p:nvSpPr>
        <p:spPr>
          <a:xfrm>
            <a:off x="6812280" y="3090672"/>
            <a:ext cx="1737360" cy="256032"/>
          </a:xfrm>
          <a:prstGeom prst="rect">
            <a:avLst/>
          </a:prstGeom>
          <a:noFill/>
          <a:ln/>
        </p:spPr>
        <p:txBody>
          <a:bodyPr wrap="square" rtlCol="0" anchor="ctr"/>
          <a:lstStyle/>
          <a:p>
            <a:pPr marL="0" indent="0">
              <a:buNone/>
            </a:pPr>
            <a:r>
              <a:rPr lang="en-US" sz="950" b="1" dirty="0">
                <a:solidFill>
                  <a:srgbClr val="1E293B"/>
                </a:solidFill>
              </a:rPr>
              <a:t>Dashboard Reporting</a:t>
            </a:r>
            <a:endParaRPr lang="en-US" sz="950" dirty="0"/>
          </a:p>
        </p:txBody>
      </p:sp>
      <p:sp>
        <p:nvSpPr>
          <p:cNvPr id="44" name="Text 42"/>
          <p:cNvSpPr/>
          <p:nvPr/>
        </p:nvSpPr>
        <p:spPr>
          <a:xfrm>
            <a:off x="6812280" y="3383280"/>
            <a:ext cx="1737360" cy="621792"/>
          </a:xfrm>
          <a:prstGeom prst="rect">
            <a:avLst/>
          </a:prstGeom>
          <a:noFill/>
          <a:ln/>
        </p:spPr>
        <p:txBody>
          <a:bodyPr wrap="square" rtlCol="0" anchor="ctr"/>
          <a:lstStyle/>
          <a:p>
            <a:pPr marL="0" indent="0">
              <a:buNone/>
            </a:pPr>
            <a:r>
              <a:rPr lang="en-US" sz="850" dirty="0">
                <a:solidFill>
                  <a:srgbClr val="64748B"/>
                </a:solidFill>
              </a:rPr>
              <a:t>If risk score exceeds threshold → Send alert to regulator dashboard.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563EB"/>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2563EB"/>
                </a:solidFill>
              </a:rPr>
              <a:t>SOLUTION VALUE</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000" b="1" dirty="0">
                <a:solidFill>
                  <a:srgbClr val="1E293B"/>
                </a:solidFill>
              </a:rPr>
              <a:t>How Blockchain Resolves Systemic Roadblocks</a:t>
            </a:r>
            <a:endParaRPr lang="en-US" sz="2000" dirty="0"/>
          </a:p>
        </p:txBody>
      </p:sp>
      <p:sp>
        <p:nvSpPr>
          <p:cNvPr id="5" name="Shape 3"/>
          <p:cNvSpPr/>
          <p:nvPr/>
        </p:nvSpPr>
        <p:spPr>
          <a:xfrm>
            <a:off x="228600" y="1051560"/>
            <a:ext cx="2715768" cy="1600200"/>
          </a:xfrm>
          <a:prstGeom prst="rect">
            <a:avLst/>
          </a:prstGeom>
          <a:solidFill>
            <a:srgbClr val="FFFFFF"/>
          </a:solidFill>
          <a:ln w="12700">
            <a:solidFill>
              <a:srgbClr val="E2E8F0"/>
            </a:solidFill>
            <a:prstDash val="solid"/>
          </a:ln>
        </p:spPr>
      </p:sp>
      <p:sp>
        <p:nvSpPr>
          <p:cNvPr id="6" name="Shape 4"/>
          <p:cNvSpPr/>
          <p:nvPr/>
        </p:nvSpPr>
        <p:spPr>
          <a:xfrm>
            <a:off x="393192" y="1216152"/>
            <a:ext cx="594360" cy="594360"/>
          </a:xfrm>
          <a:prstGeom prst="rect">
            <a:avLst/>
          </a:prstGeom>
          <a:solidFill>
            <a:srgbClr val="EFF6FF"/>
          </a:solidFill>
          <a:ln/>
        </p:spPr>
      </p:sp>
      <p:sp>
        <p:nvSpPr>
          <p:cNvPr id="7" name="Text 5"/>
          <p:cNvSpPr/>
          <p:nvPr/>
        </p:nvSpPr>
        <p:spPr>
          <a:xfrm>
            <a:off x="393192" y="1216152"/>
            <a:ext cx="594360" cy="594360"/>
          </a:xfrm>
          <a:prstGeom prst="rect">
            <a:avLst/>
          </a:prstGeom>
          <a:noFill/>
          <a:ln/>
        </p:spPr>
        <p:txBody>
          <a:bodyPr wrap="square" rtlCol="0" anchor="ctr"/>
          <a:lstStyle/>
          <a:p>
            <a:pPr marL="0" indent="0" algn="ctr">
              <a:buNone/>
            </a:pPr>
            <a:r>
              <a:rPr lang="en-US" sz="600" b="1" dirty="0">
                <a:solidFill>
                  <a:srgbClr val="2563EB"/>
                </a:solidFill>
              </a:rPr>
              <a:t>TAMPER</a:t>
            </a:r>
            <a:endParaRPr lang="en-US" sz="600" dirty="0"/>
          </a:p>
          <a:p>
            <a:pPr marL="0" indent="0" algn="ctr">
              <a:buNone/>
            </a:pPr>
            <a:r>
              <a:rPr lang="en-US" sz="600" b="1" dirty="0">
                <a:solidFill>
                  <a:srgbClr val="2563EB"/>
                </a:solidFill>
              </a:rPr>
              <a:t>PROOF</a:t>
            </a:r>
            <a:endParaRPr lang="en-US" sz="600" dirty="0"/>
          </a:p>
        </p:txBody>
      </p:sp>
      <p:sp>
        <p:nvSpPr>
          <p:cNvPr id="8" name="Text 6"/>
          <p:cNvSpPr/>
          <p:nvPr/>
        </p:nvSpPr>
        <p:spPr>
          <a:xfrm>
            <a:off x="1097280" y="1252728"/>
            <a:ext cx="1691640" cy="320040"/>
          </a:xfrm>
          <a:prstGeom prst="rect">
            <a:avLst/>
          </a:prstGeom>
          <a:noFill/>
          <a:ln/>
        </p:spPr>
        <p:txBody>
          <a:bodyPr wrap="square" rtlCol="0" anchor="ctr"/>
          <a:lstStyle/>
          <a:p>
            <a:pPr marL="0" indent="0">
              <a:buNone/>
            </a:pPr>
            <a:r>
              <a:rPr lang="en-US" sz="1000" b="1" dirty="0">
                <a:solidFill>
                  <a:srgbClr val="1E293B"/>
                </a:solidFill>
              </a:rPr>
              <a:t>Tamper-Proof Ledger</a:t>
            </a:r>
            <a:endParaRPr lang="en-US" sz="1000" dirty="0"/>
          </a:p>
        </p:txBody>
      </p:sp>
      <p:sp>
        <p:nvSpPr>
          <p:cNvPr id="9" name="Text 7"/>
          <p:cNvSpPr/>
          <p:nvPr/>
        </p:nvSpPr>
        <p:spPr>
          <a:xfrm>
            <a:off x="393192" y="1920240"/>
            <a:ext cx="2377440" cy="621792"/>
          </a:xfrm>
          <a:prstGeom prst="rect">
            <a:avLst/>
          </a:prstGeom>
          <a:noFill/>
          <a:ln/>
        </p:spPr>
        <p:txBody>
          <a:bodyPr wrap="square" rtlCol="0" anchor="ctr"/>
          <a:lstStyle/>
          <a:p>
            <a:pPr marL="0" indent="0">
              <a:buNone/>
            </a:pPr>
            <a:r>
              <a:rPr lang="en-US" sz="850" dirty="0">
                <a:solidFill>
                  <a:srgbClr val="64748B"/>
                </a:solidFill>
              </a:rPr>
              <a:t>Provides an immutable ledger of all transactions, making ledger state adjustment impossible.</a:t>
            </a:r>
            <a:endParaRPr lang="en-US" sz="850" dirty="0"/>
          </a:p>
        </p:txBody>
      </p:sp>
      <p:sp>
        <p:nvSpPr>
          <p:cNvPr id="10" name="Shape 8"/>
          <p:cNvSpPr/>
          <p:nvPr/>
        </p:nvSpPr>
        <p:spPr>
          <a:xfrm>
            <a:off x="3172968" y="1051560"/>
            <a:ext cx="2715768" cy="1600200"/>
          </a:xfrm>
          <a:prstGeom prst="rect">
            <a:avLst/>
          </a:prstGeom>
          <a:solidFill>
            <a:srgbClr val="FFFFFF"/>
          </a:solidFill>
          <a:ln w="12700">
            <a:solidFill>
              <a:srgbClr val="E2E8F0"/>
            </a:solidFill>
            <a:prstDash val="solid"/>
          </a:ln>
        </p:spPr>
      </p:sp>
      <p:sp>
        <p:nvSpPr>
          <p:cNvPr id="11" name="Shape 9"/>
          <p:cNvSpPr/>
          <p:nvPr/>
        </p:nvSpPr>
        <p:spPr>
          <a:xfrm>
            <a:off x="3337560" y="1216152"/>
            <a:ext cx="594360" cy="594360"/>
          </a:xfrm>
          <a:prstGeom prst="rect">
            <a:avLst/>
          </a:prstGeom>
          <a:solidFill>
            <a:srgbClr val="EFF6FF"/>
          </a:solidFill>
          <a:ln/>
        </p:spPr>
      </p:sp>
      <p:sp>
        <p:nvSpPr>
          <p:cNvPr id="12" name="Text 10"/>
          <p:cNvSpPr/>
          <p:nvPr/>
        </p:nvSpPr>
        <p:spPr>
          <a:xfrm>
            <a:off x="3337560" y="1216152"/>
            <a:ext cx="594360" cy="594360"/>
          </a:xfrm>
          <a:prstGeom prst="rect">
            <a:avLst/>
          </a:prstGeom>
          <a:noFill/>
          <a:ln/>
        </p:spPr>
        <p:txBody>
          <a:bodyPr wrap="square" rtlCol="0" anchor="ctr"/>
          <a:lstStyle/>
          <a:p>
            <a:pPr marL="0" indent="0" algn="ctr">
              <a:buNone/>
            </a:pPr>
            <a:r>
              <a:rPr lang="en-US" sz="600" b="1" dirty="0">
                <a:solidFill>
                  <a:srgbClr val="2563EB"/>
                </a:solidFill>
              </a:rPr>
              <a:t>REAL</a:t>
            </a:r>
            <a:endParaRPr lang="en-US" sz="600" dirty="0"/>
          </a:p>
          <a:p>
            <a:pPr marL="0" indent="0" algn="ctr">
              <a:buNone/>
            </a:pPr>
            <a:r>
              <a:rPr lang="en-US" sz="600" b="1" dirty="0">
                <a:solidFill>
                  <a:srgbClr val="2563EB"/>
                </a:solidFill>
              </a:rPr>
              <a:t>TIME</a:t>
            </a:r>
            <a:endParaRPr lang="en-US" sz="600" dirty="0"/>
          </a:p>
        </p:txBody>
      </p:sp>
      <p:sp>
        <p:nvSpPr>
          <p:cNvPr id="13" name="Text 11"/>
          <p:cNvSpPr/>
          <p:nvPr/>
        </p:nvSpPr>
        <p:spPr>
          <a:xfrm>
            <a:off x="4041648" y="1252728"/>
            <a:ext cx="1691640" cy="320040"/>
          </a:xfrm>
          <a:prstGeom prst="rect">
            <a:avLst/>
          </a:prstGeom>
          <a:noFill/>
          <a:ln/>
        </p:spPr>
        <p:txBody>
          <a:bodyPr wrap="square" rtlCol="0" anchor="ctr"/>
          <a:lstStyle/>
          <a:p>
            <a:pPr marL="0" indent="0">
              <a:buNone/>
            </a:pPr>
            <a:r>
              <a:rPr lang="en-US" sz="1000" b="1" dirty="0">
                <a:solidFill>
                  <a:srgbClr val="1E293B"/>
                </a:solidFill>
              </a:rPr>
              <a:t>Real-Time Visibility</a:t>
            </a:r>
            <a:endParaRPr lang="en-US" sz="1000" dirty="0"/>
          </a:p>
        </p:txBody>
      </p:sp>
      <p:sp>
        <p:nvSpPr>
          <p:cNvPr id="14" name="Text 12"/>
          <p:cNvSpPr/>
          <p:nvPr/>
        </p:nvSpPr>
        <p:spPr>
          <a:xfrm>
            <a:off x="3337560" y="1920240"/>
            <a:ext cx="2377440" cy="621792"/>
          </a:xfrm>
          <a:prstGeom prst="rect">
            <a:avLst/>
          </a:prstGeom>
          <a:noFill/>
          <a:ln/>
        </p:spPr>
        <p:txBody>
          <a:bodyPr wrap="square" rtlCol="0" anchor="ctr"/>
          <a:lstStyle/>
          <a:p>
            <a:pPr marL="0" indent="0">
              <a:buNone/>
            </a:pPr>
            <a:r>
              <a:rPr lang="en-US" sz="850" dirty="0">
                <a:solidFill>
                  <a:srgbClr val="64748B"/>
                </a:solidFill>
              </a:rPr>
              <a:t>Enables real-time shared visibility across multiple banks and regulators, eliminating the timing window gap.</a:t>
            </a:r>
            <a:endParaRPr lang="en-US" sz="850" dirty="0"/>
          </a:p>
        </p:txBody>
      </p:sp>
      <p:sp>
        <p:nvSpPr>
          <p:cNvPr id="15" name="Shape 13"/>
          <p:cNvSpPr/>
          <p:nvPr/>
        </p:nvSpPr>
        <p:spPr>
          <a:xfrm>
            <a:off x="6117336" y="1051560"/>
            <a:ext cx="2715768" cy="1600200"/>
          </a:xfrm>
          <a:prstGeom prst="rect">
            <a:avLst/>
          </a:prstGeom>
          <a:solidFill>
            <a:srgbClr val="FFFFFF"/>
          </a:solidFill>
          <a:ln w="12700">
            <a:solidFill>
              <a:srgbClr val="E2E8F0"/>
            </a:solidFill>
            <a:prstDash val="solid"/>
          </a:ln>
        </p:spPr>
      </p:sp>
      <p:sp>
        <p:nvSpPr>
          <p:cNvPr id="16" name="Shape 14"/>
          <p:cNvSpPr/>
          <p:nvPr/>
        </p:nvSpPr>
        <p:spPr>
          <a:xfrm>
            <a:off x="6281928" y="1216152"/>
            <a:ext cx="594360" cy="594360"/>
          </a:xfrm>
          <a:prstGeom prst="rect">
            <a:avLst/>
          </a:prstGeom>
          <a:solidFill>
            <a:srgbClr val="EFF6FF"/>
          </a:solidFill>
          <a:ln/>
        </p:spPr>
      </p:sp>
      <p:sp>
        <p:nvSpPr>
          <p:cNvPr id="17" name="Text 15"/>
          <p:cNvSpPr/>
          <p:nvPr/>
        </p:nvSpPr>
        <p:spPr>
          <a:xfrm>
            <a:off x="6281928" y="1216152"/>
            <a:ext cx="594360" cy="594360"/>
          </a:xfrm>
          <a:prstGeom prst="rect">
            <a:avLst/>
          </a:prstGeom>
          <a:noFill/>
          <a:ln/>
        </p:spPr>
        <p:txBody>
          <a:bodyPr wrap="square" rtlCol="0" anchor="ctr"/>
          <a:lstStyle/>
          <a:p>
            <a:pPr marL="0" indent="0" algn="ctr">
              <a:buNone/>
            </a:pPr>
            <a:r>
              <a:rPr lang="en-US" sz="600" b="1" dirty="0">
                <a:solidFill>
                  <a:srgbClr val="2563EB"/>
                </a:solidFill>
              </a:rPr>
              <a:t>NO</a:t>
            </a:r>
            <a:endParaRPr lang="en-US" sz="600" dirty="0"/>
          </a:p>
          <a:p>
            <a:pPr marL="0" indent="0" algn="ctr">
              <a:buNone/>
            </a:pPr>
            <a:r>
              <a:rPr lang="en-US" sz="600" b="1" dirty="0">
                <a:solidFill>
                  <a:srgbClr val="2563EB"/>
                </a:solidFill>
              </a:rPr>
              <a:t>SILOS</a:t>
            </a:r>
            <a:endParaRPr lang="en-US" sz="600" dirty="0"/>
          </a:p>
        </p:txBody>
      </p:sp>
      <p:sp>
        <p:nvSpPr>
          <p:cNvPr id="18" name="Text 16"/>
          <p:cNvSpPr/>
          <p:nvPr/>
        </p:nvSpPr>
        <p:spPr>
          <a:xfrm>
            <a:off x="6986016" y="1252728"/>
            <a:ext cx="1691640" cy="320040"/>
          </a:xfrm>
          <a:prstGeom prst="rect">
            <a:avLst/>
          </a:prstGeom>
          <a:noFill/>
          <a:ln/>
        </p:spPr>
        <p:txBody>
          <a:bodyPr wrap="square" rtlCol="0" anchor="ctr"/>
          <a:lstStyle/>
          <a:p>
            <a:pPr marL="0" indent="0">
              <a:buNone/>
            </a:pPr>
            <a:r>
              <a:rPr lang="en-US" sz="1000" b="1" dirty="0">
                <a:solidFill>
                  <a:srgbClr val="1E293B"/>
                </a:solidFill>
              </a:rPr>
              <a:t>Dismantling Silos</a:t>
            </a:r>
            <a:endParaRPr lang="en-US" sz="1000" dirty="0"/>
          </a:p>
        </p:txBody>
      </p:sp>
      <p:sp>
        <p:nvSpPr>
          <p:cNvPr id="19" name="Text 17"/>
          <p:cNvSpPr/>
          <p:nvPr/>
        </p:nvSpPr>
        <p:spPr>
          <a:xfrm>
            <a:off x="6281928" y="1920240"/>
            <a:ext cx="2377440" cy="621792"/>
          </a:xfrm>
          <a:prstGeom prst="rect">
            <a:avLst/>
          </a:prstGeom>
          <a:noFill/>
          <a:ln/>
        </p:spPr>
        <p:txBody>
          <a:bodyPr wrap="square" rtlCol="0" anchor="ctr"/>
          <a:lstStyle/>
          <a:p>
            <a:pPr marL="0" indent="0">
              <a:buNone/>
            </a:pPr>
            <a:r>
              <a:rPr lang="en-US" sz="850" dirty="0">
                <a:solidFill>
                  <a:srgbClr val="64748B"/>
                </a:solidFill>
              </a:rPr>
              <a:t>Removes data silos by using a distributed ledger system to share transaction security signals globally.</a:t>
            </a:r>
            <a:endParaRPr lang="en-US" sz="850" dirty="0"/>
          </a:p>
        </p:txBody>
      </p:sp>
      <p:sp>
        <p:nvSpPr>
          <p:cNvPr id="20" name="Shape 18"/>
          <p:cNvSpPr/>
          <p:nvPr/>
        </p:nvSpPr>
        <p:spPr>
          <a:xfrm>
            <a:off x="228600" y="2788920"/>
            <a:ext cx="2715768" cy="1600200"/>
          </a:xfrm>
          <a:prstGeom prst="rect">
            <a:avLst/>
          </a:prstGeom>
          <a:solidFill>
            <a:srgbClr val="FFFFFF"/>
          </a:solidFill>
          <a:ln w="12700">
            <a:solidFill>
              <a:srgbClr val="E2E8F0"/>
            </a:solidFill>
            <a:prstDash val="solid"/>
          </a:ln>
        </p:spPr>
      </p:sp>
      <p:sp>
        <p:nvSpPr>
          <p:cNvPr id="21" name="Shape 19"/>
          <p:cNvSpPr/>
          <p:nvPr/>
        </p:nvSpPr>
        <p:spPr>
          <a:xfrm>
            <a:off x="393192" y="2953512"/>
            <a:ext cx="594360" cy="594360"/>
          </a:xfrm>
          <a:prstGeom prst="rect">
            <a:avLst/>
          </a:prstGeom>
          <a:solidFill>
            <a:srgbClr val="EFF6FF"/>
          </a:solidFill>
          <a:ln/>
        </p:spPr>
      </p:sp>
      <p:sp>
        <p:nvSpPr>
          <p:cNvPr id="22" name="Text 20"/>
          <p:cNvSpPr/>
          <p:nvPr/>
        </p:nvSpPr>
        <p:spPr>
          <a:xfrm>
            <a:off x="393192" y="2953512"/>
            <a:ext cx="594360" cy="594360"/>
          </a:xfrm>
          <a:prstGeom prst="rect">
            <a:avLst/>
          </a:prstGeom>
          <a:noFill/>
          <a:ln/>
        </p:spPr>
        <p:txBody>
          <a:bodyPr wrap="square" rtlCol="0" anchor="ctr"/>
          <a:lstStyle/>
          <a:p>
            <a:pPr marL="0" indent="0" algn="ctr">
              <a:buNone/>
            </a:pPr>
            <a:r>
              <a:rPr lang="en-US" sz="600" b="1" dirty="0">
                <a:solidFill>
                  <a:srgbClr val="2563EB"/>
                </a:solidFill>
              </a:rPr>
              <a:t>E2E</a:t>
            </a:r>
            <a:endParaRPr lang="en-US" sz="600" dirty="0"/>
          </a:p>
          <a:p>
            <a:pPr marL="0" indent="0" algn="ctr">
              <a:buNone/>
            </a:pPr>
            <a:r>
              <a:rPr lang="en-US" sz="600" b="1" dirty="0">
                <a:solidFill>
                  <a:srgbClr val="2563EB"/>
                </a:solidFill>
              </a:rPr>
              <a:t>TRACE</a:t>
            </a:r>
            <a:endParaRPr lang="en-US" sz="600" dirty="0"/>
          </a:p>
        </p:txBody>
      </p:sp>
      <p:sp>
        <p:nvSpPr>
          <p:cNvPr id="23" name="Text 21"/>
          <p:cNvSpPr/>
          <p:nvPr/>
        </p:nvSpPr>
        <p:spPr>
          <a:xfrm>
            <a:off x="1097280" y="2990088"/>
            <a:ext cx="1691640" cy="320040"/>
          </a:xfrm>
          <a:prstGeom prst="rect">
            <a:avLst/>
          </a:prstGeom>
          <a:noFill/>
          <a:ln/>
        </p:spPr>
        <p:txBody>
          <a:bodyPr wrap="square" rtlCol="0" anchor="ctr"/>
          <a:lstStyle/>
          <a:p>
            <a:pPr marL="0" indent="0">
              <a:buNone/>
            </a:pPr>
            <a:r>
              <a:rPr lang="en-US" sz="1000" b="1" dirty="0">
                <a:solidFill>
                  <a:srgbClr val="1E293B"/>
                </a:solidFill>
              </a:rPr>
              <a:t>End-to-End Tracing</a:t>
            </a:r>
            <a:endParaRPr lang="en-US" sz="1000" dirty="0"/>
          </a:p>
        </p:txBody>
      </p:sp>
      <p:sp>
        <p:nvSpPr>
          <p:cNvPr id="24" name="Text 22"/>
          <p:cNvSpPr/>
          <p:nvPr/>
        </p:nvSpPr>
        <p:spPr>
          <a:xfrm>
            <a:off x="393192" y="3657600"/>
            <a:ext cx="2377440" cy="621792"/>
          </a:xfrm>
          <a:prstGeom prst="rect">
            <a:avLst/>
          </a:prstGeom>
          <a:noFill/>
          <a:ln/>
        </p:spPr>
        <p:txBody>
          <a:bodyPr wrap="square" rtlCol="0" anchor="ctr"/>
          <a:lstStyle/>
          <a:p>
            <a:pPr marL="0" indent="0">
              <a:buNone/>
            </a:pPr>
            <a:r>
              <a:rPr lang="en-US" sz="850" dirty="0">
                <a:solidFill>
                  <a:srgbClr val="64748B"/>
                </a:solidFill>
              </a:rPr>
              <a:t>Improves end-to-end traceability of money flow across multiple accounts, banks, and borders.</a:t>
            </a:r>
            <a:endParaRPr lang="en-US" sz="850" dirty="0"/>
          </a:p>
        </p:txBody>
      </p:sp>
      <p:sp>
        <p:nvSpPr>
          <p:cNvPr id="25" name="Shape 23"/>
          <p:cNvSpPr/>
          <p:nvPr/>
        </p:nvSpPr>
        <p:spPr>
          <a:xfrm>
            <a:off x="3172968" y="2788920"/>
            <a:ext cx="2715768" cy="1600200"/>
          </a:xfrm>
          <a:prstGeom prst="rect">
            <a:avLst/>
          </a:prstGeom>
          <a:solidFill>
            <a:srgbClr val="FFFFFF"/>
          </a:solidFill>
          <a:ln w="12700">
            <a:solidFill>
              <a:srgbClr val="E2E8F0"/>
            </a:solidFill>
            <a:prstDash val="solid"/>
          </a:ln>
        </p:spPr>
      </p:sp>
      <p:sp>
        <p:nvSpPr>
          <p:cNvPr id="26" name="Shape 24"/>
          <p:cNvSpPr/>
          <p:nvPr/>
        </p:nvSpPr>
        <p:spPr>
          <a:xfrm>
            <a:off x="3337560" y="2953512"/>
            <a:ext cx="594360" cy="594360"/>
          </a:xfrm>
          <a:prstGeom prst="rect">
            <a:avLst/>
          </a:prstGeom>
          <a:solidFill>
            <a:srgbClr val="EFF6FF"/>
          </a:solidFill>
          <a:ln/>
        </p:spPr>
      </p:sp>
      <p:sp>
        <p:nvSpPr>
          <p:cNvPr id="27" name="Text 25"/>
          <p:cNvSpPr/>
          <p:nvPr/>
        </p:nvSpPr>
        <p:spPr>
          <a:xfrm>
            <a:off x="3337560" y="2953512"/>
            <a:ext cx="594360" cy="594360"/>
          </a:xfrm>
          <a:prstGeom prst="rect">
            <a:avLst/>
          </a:prstGeom>
          <a:noFill/>
          <a:ln/>
        </p:spPr>
        <p:txBody>
          <a:bodyPr wrap="square" rtlCol="0" anchor="ctr"/>
          <a:lstStyle/>
          <a:p>
            <a:pPr marL="0" indent="0" algn="ctr">
              <a:buNone/>
            </a:pPr>
            <a:r>
              <a:rPr lang="en-US" sz="600" b="1" dirty="0">
                <a:solidFill>
                  <a:srgbClr val="2563EB"/>
                </a:solidFill>
              </a:rPr>
              <a:t>AUDIT</a:t>
            </a:r>
            <a:endParaRPr lang="en-US" sz="600" dirty="0"/>
          </a:p>
          <a:p>
            <a:pPr marL="0" indent="0" algn="ctr">
              <a:buNone/>
            </a:pPr>
            <a:r>
              <a:rPr lang="en-US" sz="600" b="1" dirty="0">
                <a:solidFill>
                  <a:srgbClr val="2563EB"/>
                </a:solidFill>
              </a:rPr>
              <a:t>TRAIL</a:t>
            </a:r>
            <a:endParaRPr lang="en-US" sz="600" dirty="0"/>
          </a:p>
        </p:txBody>
      </p:sp>
      <p:sp>
        <p:nvSpPr>
          <p:cNvPr id="28" name="Text 26"/>
          <p:cNvSpPr/>
          <p:nvPr/>
        </p:nvSpPr>
        <p:spPr>
          <a:xfrm>
            <a:off x="4041648" y="2990088"/>
            <a:ext cx="1691640" cy="320040"/>
          </a:xfrm>
          <a:prstGeom prst="rect">
            <a:avLst/>
          </a:prstGeom>
          <a:noFill/>
          <a:ln/>
        </p:spPr>
        <p:txBody>
          <a:bodyPr wrap="square" rtlCol="0" anchor="ctr"/>
          <a:lstStyle/>
          <a:p>
            <a:pPr marL="0" indent="0">
              <a:buNone/>
            </a:pPr>
            <a:r>
              <a:rPr lang="en-US" sz="1000" b="1" dirty="0">
                <a:solidFill>
                  <a:srgbClr val="1E293B"/>
                </a:solidFill>
              </a:rPr>
              <a:t>Clean Auditing Trails</a:t>
            </a:r>
            <a:endParaRPr lang="en-US" sz="1000" dirty="0"/>
          </a:p>
        </p:txBody>
      </p:sp>
      <p:sp>
        <p:nvSpPr>
          <p:cNvPr id="29" name="Text 27"/>
          <p:cNvSpPr/>
          <p:nvPr/>
        </p:nvSpPr>
        <p:spPr>
          <a:xfrm>
            <a:off x="3337560" y="3657600"/>
            <a:ext cx="2377440" cy="621792"/>
          </a:xfrm>
          <a:prstGeom prst="rect">
            <a:avLst/>
          </a:prstGeom>
          <a:noFill/>
          <a:ln/>
        </p:spPr>
        <p:txBody>
          <a:bodyPr wrap="square" rtlCol="0" anchor="ctr"/>
          <a:lstStyle/>
          <a:p>
            <a:pPr marL="0" indent="0">
              <a:buNone/>
            </a:pPr>
            <a:r>
              <a:rPr lang="en-US" sz="850" dirty="0">
                <a:solidFill>
                  <a:srgbClr val="64748B"/>
                </a:solidFill>
              </a:rPr>
              <a:t>Ensures transparent audit trail for compliance and forensic criminal investigation teams.</a:t>
            </a:r>
            <a:endParaRPr lang="en-US" sz="850" dirty="0"/>
          </a:p>
        </p:txBody>
      </p:sp>
      <p:sp>
        <p:nvSpPr>
          <p:cNvPr id="30" name="Shape 28"/>
          <p:cNvSpPr/>
          <p:nvPr/>
        </p:nvSpPr>
        <p:spPr>
          <a:xfrm>
            <a:off x="6117336" y="2788920"/>
            <a:ext cx="2715768" cy="1600200"/>
          </a:xfrm>
          <a:prstGeom prst="rect">
            <a:avLst/>
          </a:prstGeom>
          <a:solidFill>
            <a:srgbClr val="FFFFFF"/>
          </a:solidFill>
          <a:ln w="12700">
            <a:solidFill>
              <a:srgbClr val="E2E8F0"/>
            </a:solidFill>
            <a:prstDash val="solid"/>
          </a:ln>
        </p:spPr>
      </p:sp>
      <p:sp>
        <p:nvSpPr>
          <p:cNvPr id="31" name="Shape 29"/>
          <p:cNvSpPr/>
          <p:nvPr/>
        </p:nvSpPr>
        <p:spPr>
          <a:xfrm>
            <a:off x="6281928" y="2953512"/>
            <a:ext cx="594360" cy="594360"/>
          </a:xfrm>
          <a:prstGeom prst="rect">
            <a:avLst/>
          </a:prstGeom>
          <a:solidFill>
            <a:srgbClr val="EFF6FF"/>
          </a:solidFill>
          <a:ln/>
        </p:spPr>
      </p:sp>
      <p:sp>
        <p:nvSpPr>
          <p:cNvPr id="32" name="Text 30"/>
          <p:cNvSpPr/>
          <p:nvPr/>
        </p:nvSpPr>
        <p:spPr>
          <a:xfrm>
            <a:off x="6281928" y="2953512"/>
            <a:ext cx="594360" cy="594360"/>
          </a:xfrm>
          <a:prstGeom prst="rect">
            <a:avLst/>
          </a:prstGeom>
          <a:noFill/>
          <a:ln/>
        </p:spPr>
        <p:txBody>
          <a:bodyPr wrap="square" rtlCol="0" anchor="ctr"/>
          <a:lstStyle/>
          <a:p>
            <a:pPr marL="0" indent="0" algn="ctr">
              <a:buNone/>
            </a:pPr>
            <a:r>
              <a:rPr lang="en-US" sz="600" b="1" dirty="0">
                <a:solidFill>
                  <a:srgbClr val="2563EB"/>
                </a:solidFill>
              </a:rPr>
              <a:t>VERIFY</a:t>
            </a:r>
            <a:endParaRPr lang="en-US" sz="600" dirty="0"/>
          </a:p>
          <a:p>
            <a:pPr marL="0" indent="0" algn="ctr">
              <a:buNone/>
            </a:pPr>
            <a:r>
              <a:rPr lang="en-US" sz="600" b="1" dirty="0">
                <a:solidFill>
                  <a:srgbClr val="2563EB"/>
                </a:solidFill>
              </a:rPr>
              <a:t>FAST</a:t>
            </a:r>
            <a:endParaRPr lang="en-US" sz="600" dirty="0"/>
          </a:p>
        </p:txBody>
      </p:sp>
      <p:sp>
        <p:nvSpPr>
          <p:cNvPr id="33" name="Text 31"/>
          <p:cNvSpPr/>
          <p:nvPr/>
        </p:nvSpPr>
        <p:spPr>
          <a:xfrm>
            <a:off x="6986016" y="2990088"/>
            <a:ext cx="1691640" cy="320040"/>
          </a:xfrm>
          <a:prstGeom prst="rect">
            <a:avLst/>
          </a:prstGeom>
          <a:noFill/>
          <a:ln/>
        </p:spPr>
        <p:txBody>
          <a:bodyPr wrap="square" rtlCol="0" anchor="ctr"/>
          <a:lstStyle/>
          <a:p>
            <a:pPr marL="0" indent="0">
              <a:buNone/>
            </a:pPr>
            <a:r>
              <a:rPr lang="en-US" sz="1000" b="1" dirty="0">
                <a:solidFill>
                  <a:srgbClr val="1E293B"/>
                </a:solidFill>
              </a:rPr>
              <a:t>Immediate Verification</a:t>
            </a:r>
            <a:endParaRPr lang="en-US" sz="1000" dirty="0"/>
          </a:p>
        </p:txBody>
      </p:sp>
      <p:sp>
        <p:nvSpPr>
          <p:cNvPr id="34" name="Text 32"/>
          <p:cNvSpPr/>
          <p:nvPr/>
        </p:nvSpPr>
        <p:spPr>
          <a:xfrm>
            <a:off x="6281928" y="3657600"/>
            <a:ext cx="2377440" cy="621792"/>
          </a:xfrm>
          <a:prstGeom prst="rect">
            <a:avLst/>
          </a:prstGeom>
          <a:noFill/>
          <a:ln/>
        </p:spPr>
        <p:txBody>
          <a:bodyPr wrap="square" rtlCol="0" anchor="ctr"/>
          <a:lstStyle/>
          <a:p>
            <a:pPr marL="0" indent="0">
              <a:buNone/>
            </a:pPr>
            <a:r>
              <a:rPr lang="en-US" sz="850" dirty="0">
                <a:solidFill>
                  <a:srgbClr val="64748B"/>
                </a:solidFill>
              </a:rPr>
              <a:t>Reduces risk of data manipulation and supports faster investigation and verification of transactions.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7C3AED"/>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7C3AED"/>
                </a:solidFill>
              </a:rPr>
              <a:t>AI INFRASTRUCTURE</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200" b="1" dirty="0">
                <a:solidFill>
                  <a:srgbClr val="1E293B"/>
                </a:solidFill>
              </a:rPr>
              <a:t>AI/ML Role &amp; Graph Neural Networks</a:t>
            </a:r>
            <a:endParaRPr lang="en-US" sz="2200" dirty="0"/>
          </a:p>
        </p:txBody>
      </p:sp>
      <p:sp>
        <p:nvSpPr>
          <p:cNvPr id="5" name="Shape 3"/>
          <p:cNvSpPr/>
          <p:nvPr/>
        </p:nvSpPr>
        <p:spPr>
          <a:xfrm>
            <a:off x="228600" y="1051560"/>
            <a:ext cx="4160520" cy="3840480"/>
          </a:xfrm>
          <a:prstGeom prst="rect">
            <a:avLst/>
          </a:prstGeom>
          <a:solidFill>
            <a:srgbClr val="FFFFFF"/>
          </a:solidFill>
          <a:ln w="12700">
            <a:solidFill>
              <a:srgbClr val="E2E8F0"/>
            </a:solidFill>
            <a:prstDash val="solid"/>
          </a:ln>
        </p:spPr>
      </p:sp>
      <p:sp>
        <p:nvSpPr>
          <p:cNvPr id="6" name="Text 4"/>
          <p:cNvSpPr/>
          <p:nvPr/>
        </p:nvSpPr>
        <p:spPr>
          <a:xfrm>
            <a:off x="411480" y="1188720"/>
            <a:ext cx="3794760" cy="365760"/>
          </a:xfrm>
          <a:prstGeom prst="rect">
            <a:avLst/>
          </a:prstGeom>
          <a:noFill/>
          <a:ln/>
        </p:spPr>
        <p:txBody>
          <a:bodyPr wrap="square" rtlCol="0" anchor="ctr"/>
          <a:lstStyle/>
          <a:p>
            <a:pPr marL="0" indent="0">
              <a:buNone/>
            </a:pPr>
            <a:r>
              <a:rPr lang="en-US" sz="1200" b="1" dirty="0">
                <a:solidFill>
                  <a:srgbClr val="1E293B"/>
                </a:solidFill>
              </a:rPr>
              <a:t>Multi-Bank Cognitive Graph Processing</a:t>
            </a:r>
            <a:endParaRPr lang="en-US" sz="1200" dirty="0"/>
          </a:p>
        </p:txBody>
      </p:sp>
      <p:sp>
        <p:nvSpPr>
          <p:cNvPr id="7" name="Text 5"/>
          <p:cNvSpPr/>
          <p:nvPr/>
        </p:nvSpPr>
        <p:spPr>
          <a:xfrm>
            <a:off x="411480" y="1600200"/>
            <a:ext cx="3794760" cy="640080"/>
          </a:xfrm>
          <a:prstGeom prst="rect">
            <a:avLst/>
          </a:prstGeom>
          <a:noFill/>
          <a:ln/>
        </p:spPr>
        <p:txBody>
          <a:bodyPr wrap="square" rtlCol="0" anchor="ctr"/>
          <a:lstStyle/>
          <a:p>
            <a:pPr marL="0" indent="0">
              <a:buNone/>
            </a:pPr>
            <a:r>
              <a:rPr lang="en-US" sz="900" dirty="0">
                <a:solidFill>
                  <a:srgbClr val="64748B"/>
                </a:solidFill>
              </a:rPr>
              <a:t>Our hybrid model utilizes Graph Neural Networks (GNN) to analyze inter-bank connection vectors on-chain, mapping relationships across nodes to flag suspicious rings in seconds.</a:t>
            </a:r>
            <a:endParaRPr lang="en-US" sz="900" dirty="0"/>
          </a:p>
        </p:txBody>
      </p:sp>
      <p:sp>
        <p:nvSpPr>
          <p:cNvPr id="8" name="Text 6"/>
          <p:cNvSpPr/>
          <p:nvPr/>
        </p:nvSpPr>
        <p:spPr>
          <a:xfrm>
            <a:off x="411480" y="2286000"/>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Detects fraud patterns and anomalies in transaction behavior.</a:t>
            </a:r>
            <a:endParaRPr lang="en-US" sz="850" dirty="0"/>
          </a:p>
        </p:txBody>
      </p:sp>
      <p:sp>
        <p:nvSpPr>
          <p:cNvPr id="9" name="Text 7"/>
          <p:cNvSpPr/>
          <p:nvPr/>
        </p:nvSpPr>
        <p:spPr>
          <a:xfrm>
            <a:off x="411480" y="2624328"/>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Assigns a predictive, unified risk score to each transaction.</a:t>
            </a:r>
            <a:endParaRPr lang="en-US" sz="850" dirty="0"/>
          </a:p>
        </p:txBody>
      </p:sp>
      <p:sp>
        <p:nvSpPr>
          <p:cNvPr id="10" name="Text 8"/>
          <p:cNvSpPr/>
          <p:nvPr/>
        </p:nvSpPr>
        <p:spPr>
          <a:xfrm>
            <a:off x="411480" y="2962656"/>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Identifies unknown, emerging, and zero-day fraud patterns.</a:t>
            </a:r>
            <a:endParaRPr lang="en-US" sz="850" dirty="0"/>
          </a:p>
        </p:txBody>
      </p:sp>
      <p:sp>
        <p:nvSpPr>
          <p:cNvPr id="11" name="Text 9"/>
          <p:cNvSpPr/>
          <p:nvPr/>
        </p:nvSpPr>
        <p:spPr>
          <a:xfrm>
            <a:off x="411480" y="3300984"/>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Handles concept drift (changing fraud techniques over time).</a:t>
            </a:r>
            <a:endParaRPr lang="en-US" sz="850" dirty="0"/>
          </a:p>
        </p:txBody>
      </p:sp>
      <p:sp>
        <p:nvSpPr>
          <p:cNvPr id="12" name="Text 10"/>
          <p:cNvSpPr/>
          <p:nvPr/>
        </p:nvSpPr>
        <p:spPr>
          <a:xfrm>
            <a:off x="411480" y="3639312"/>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Reduces false positives and false negatives in detection.</a:t>
            </a:r>
            <a:endParaRPr lang="en-US" sz="850" dirty="0"/>
          </a:p>
        </p:txBody>
      </p:sp>
      <p:sp>
        <p:nvSpPr>
          <p:cNvPr id="13" name="Text 11"/>
          <p:cNvSpPr/>
          <p:nvPr/>
        </p:nvSpPr>
        <p:spPr>
          <a:xfrm>
            <a:off x="411480" y="3977640"/>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Analyzes user behavior patterns for predictive fraud detection.</a:t>
            </a:r>
            <a:endParaRPr lang="en-US" sz="850" dirty="0"/>
          </a:p>
        </p:txBody>
      </p:sp>
      <p:sp>
        <p:nvSpPr>
          <p:cNvPr id="14" name="Text 12"/>
          <p:cNvSpPr/>
          <p:nvPr/>
        </p:nvSpPr>
        <p:spPr>
          <a:xfrm>
            <a:off x="411480" y="4315968"/>
            <a:ext cx="3794760" cy="320040"/>
          </a:xfrm>
          <a:prstGeom prst="rect">
            <a:avLst/>
          </a:prstGeom>
          <a:noFill/>
          <a:ln/>
        </p:spPr>
        <p:txBody>
          <a:bodyPr wrap="square" rtlCol="0" anchor="ctr"/>
          <a:lstStyle/>
          <a:p>
            <a:pPr marL="342900" indent="-342900">
              <a:buSzPct val="100000"/>
              <a:buChar char="•"/>
            </a:pPr>
            <a:r>
              <a:rPr lang="en-US" sz="850" dirty="0">
                <a:solidFill>
                  <a:srgbClr val="64748B"/>
                </a:solidFill>
              </a:rPr>
              <a:t>Uses GNN to detect hidden money laundering networks.</a:t>
            </a:r>
            <a:endParaRPr lang="en-US" sz="850" dirty="0"/>
          </a:p>
        </p:txBody>
      </p:sp>
      <p:sp>
        <p:nvSpPr>
          <p:cNvPr id="16" name="Text 14"/>
          <p:cNvSpPr/>
          <p:nvPr/>
        </p:nvSpPr>
        <p:spPr>
          <a:xfrm>
            <a:off x="4663440" y="1143000"/>
            <a:ext cx="4251960" cy="256032"/>
          </a:xfrm>
          <a:prstGeom prst="rect">
            <a:avLst/>
          </a:prstGeom>
          <a:noFill/>
          <a:ln/>
        </p:spPr>
        <p:txBody>
          <a:bodyPr wrap="square" rtlCol="0" anchor="ctr"/>
          <a:lstStyle/>
          <a:p>
            <a:pPr marL="0" indent="0" algn="ctr">
              <a:buNone/>
            </a:pPr>
            <a:endParaRPr lang="en-US" sz="750" dirty="0"/>
          </a:p>
        </p:txBody>
      </p:sp>
      <p:sp>
        <p:nvSpPr>
          <p:cNvPr id="20" name="Text 18"/>
          <p:cNvSpPr/>
          <p:nvPr/>
        </p:nvSpPr>
        <p:spPr>
          <a:xfrm>
            <a:off x="5212080" y="1645920"/>
            <a:ext cx="502920" cy="502920"/>
          </a:xfrm>
          <a:prstGeom prst="rect">
            <a:avLst/>
          </a:prstGeom>
          <a:noFill/>
          <a:ln/>
        </p:spPr>
        <p:txBody>
          <a:bodyPr wrap="square" rtlCol="0" anchor="ctr"/>
          <a:lstStyle/>
          <a:p>
            <a:pPr marL="0" indent="0" algn="ctr">
              <a:buNone/>
            </a:pPr>
            <a:r>
              <a:rPr lang="en-US" sz="650" dirty="0">
                <a:solidFill>
                  <a:srgbClr val="FFFFFF"/>
                </a:solidFill>
              </a:rPr>
              <a:t>Bank A</a:t>
            </a:r>
            <a:endParaRPr lang="en-US" sz="650" dirty="0"/>
          </a:p>
        </p:txBody>
      </p:sp>
      <p:sp>
        <p:nvSpPr>
          <p:cNvPr id="22" name="Text 20"/>
          <p:cNvSpPr/>
          <p:nvPr/>
        </p:nvSpPr>
        <p:spPr>
          <a:xfrm>
            <a:off x="7955280" y="1645920"/>
            <a:ext cx="502920" cy="502920"/>
          </a:xfrm>
          <a:prstGeom prst="rect">
            <a:avLst/>
          </a:prstGeom>
          <a:noFill/>
          <a:ln/>
        </p:spPr>
        <p:txBody>
          <a:bodyPr wrap="square" rtlCol="0" anchor="ctr"/>
          <a:lstStyle/>
          <a:p>
            <a:pPr marL="0" indent="0" algn="ctr">
              <a:buNone/>
            </a:pPr>
            <a:r>
              <a:rPr lang="en-US" sz="650" dirty="0">
                <a:solidFill>
                  <a:srgbClr val="FFFFFF"/>
                </a:solidFill>
              </a:rPr>
              <a:t>Bank B</a:t>
            </a:r>
            <a:endParaRPr lang="en-US" sz="650" dirty="0"/>
          </a:p>
        </p:txBody>
      </p:sp>
      <p:sp>
        <p:nvSpPr>
          <p:cNvPr id="24" name="Text 22"/>
          <p:cNvSpPr/>
          <p:nvPr/>
        </p:nvSpPr>
        <p:spPr>
          <a:xfrm>
            <a:off x="5212080" y="3566160"/>
            <a:ext cx="502920" cy="502920"/>
          </a:xfrm>
          <a:prstGeom prst="rect">
            <a:avLst/>
          </a:prstGeom>
          <a:noFill/>
          <a:ln/>
        </p:spPr>
        <p:txBody>
          <a:bodyPr wrap="square" rtlCol="0" anchor="ctr"/>
          <a:lstStyle/>
          <a:p>
            <a:pPr marL="0" indent="0" algn="ctr">
              <a:buNone/>
            </a:pPr>
            <a:r>
              <a:rPr lang="en-US" sz="650" dirty="0">
                <a:solidFill>
                  <a:srgbClr val="FFFFFF"/>
                </a:solidFill>
              </a:rPr>
              <a:t>Bank C</a:t>
            </a:r>
            <a:endParaRPr lang="en-US" sz="650" dirty="0"/>
          </a:p>
        </p:txBody>
      </p:sp>
      <p:sp>
        <p:nvSpPr>
          <p:cNvPr id="26" name="Text 24"/>
          <p:cNvSpPr/>
          <p:nvPr/>
        </p:nvSpPr>
        <p:spPr>
          <a:xfrm>
            <a:off x="7955280" y="3566160"/>
            <a:ext cx="502920" cy="502920"/>
          </a:xfrm>
          <a:prstGeom prst="rect">
            <a:avLst/>
          </a:prstGeom>
          <a:noFill/>
          <a:ln/>
        </p:spPr>
        <p:txBody>
          <a:bodyPr wrap="square" rtlCol="0" anchor="ctr"/>
          <a:lstStyle/>
          <a:p>
            <a:pPr marL="0" indent="0" algn="ctr">
              <a:buNone/>
            </a:pPr>
            <a:r>
              <a:rPr lang="en-US" sz="650" dirty="0">
                <a:solidFill>
                  <a:srgbClr val="FFFFFF"/>
                </a:solidFill>
              </a:rPr>
              <a:t>Bank D</a:t>
            </a:r>
            <a:endParaRPr lang="en-US" sz="650" dirty="0"/>
          </a:p>
        </p:txBody>
      </p:sp>
      <p:pic>
        <p:nvPicPr>
          <p:cNvPr id="28"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1219" y="1063487"/>
            <a:ext cx="3956402" cy="36073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2563EB"/>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2563EB"/>
                </a:solidFill>
              </a:rPr>
              <a:t>SYSTEM COMPARISON</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000" b="1" dirty="0">
                <a:solidFill>
                  <a:srgbClr val="1E293B"/>
                </a:solidFill>
              </a:rPr>
              <a:t>Current Banking AI vs Hybrid Blockchain AI System</a:t>
            </a:r>
            <a:endParaRPr lang="en-US" sz="2000" dirty="0"/>
          </a:p>
        </p:txBody>
      </p:sp>
      <p:sp>
        <p:nvSpPr>
          <p:cNvPr id="5" name="Shape 3"/>
          <p:cNvSpPr/>
          <p:nvPr/>
        </p:nvSpPr>
        <p:spPr>
          <a:xfrm>
            <a:off x="228600" y="1051560"/>
            <a:ext cx="8686800" cy="457200"/>
          </a:xfrm>
          <a:prstGeom prst="rect">
            <a:avLst/>
          </a:prstGeom>
          <a:solidFill>
            <a:srgbClr val="F1F5F9"/>
          </a:solidFill>
          <a:ln w="12700">
            <a:solidFill>
              <a:srgbClr val="E2E8F0"/>
            </a:solidFill>
            <a:prstDash val="solid"/>
          </a:ln>
        </p:spPr>
      </p:sp>
      <p:sp>
        <p:nvSpPr>
          <p:cNvPr id="6" name="Text 4"/>
          <p:cNvSpPr/>
          <p:nvPr/>
        </p:nvSpPr>
        <p:spPr>
          <a:xfrm>
            <a:off x="365760" y="1051560"/>
            <a:ext cx="2011680" cy="457200"/>
          </a:xfrm>
          <a:prstGeom prst="rect">
            <a:avLst/>
          </a:prstGeom>
          <a:noFill/>
          <a:ln/>
        </p:spPr>
        <p:txBody>
          <a:bodyPr wrap="square" rtlCol="0" anchor="ctr"/>
          <a:lstStyle/>
          <a:p>
            <a:pPr marL="0" indent="0">
              <a:buNone/>
            </a:pPr>
            <a:r>
              <a:rPr lang="en-US" sz="900" b="1" dirty="0">
                <a:solidFill>
                  <a:srgbClr val="334155"/>
                </a:solidFill>
              </a:rPr>
              <a:t>Feature</a:t>
            </a:r>
            <a:endParaRPr lang="en-US" sz="900" dirty="0"/>
          </a:p>
        </p:txBody>
      </p:sp>
      <p:sp>
        <p:nvSpPr>
          <p:cNvPr id="7" name="Text 5"/>
          <p:cNvSpPr/>
          <p:nvPr/>
        </p:nvSpPr>
        <p:spPr>
          <a:xfrm>
            <a:off x="2468880" y="1051560"/>
            <a:ext cx="3017520" cy="457200"/>
          </a:xfrm>
          <a:prstGeom prst="rect">
            <a:avLst/>
          </a:prstGeom>
          <a:noFill/>
          <a:ln/>
        </p:spPr>
        <p:txBody>
          <a:bodyPr wrap="square" rtlCol="0" anchor="ctr"/>
          <a:lstStyle/>
          <a:p>
            <a:pPr marL="0" indent="0">
              <a:buNone/>
            </a:pPr>
            <a:r>
              <a:rPr lang="en-US" sz="900" b="1" dirty="0">
                <a:solidFill>
                  <a:srgbClr val="DC2626"/>
                </a:solidFill>
              </a:rPr>
              <a:t>Current Banking AI (Today)</a:t>
            </a:r>
            <a:endParaRPr lang="en-US" sz="900" dirty="0"/>
          </a:p>
        </p:txBody>
      </p:sp>
      <p:sp>
        <p:nvSpPr>
          <p:cNvPr id="8" name="Text 6"/>
          <p:cNvSpPr/>
          <p:nvPr/>
        </p:nvSpPr>
        <p:spPr>
          <a:xfrm>
            <a:off x="5577840" y="1051560"/>
            <a:ext cx="3200400" cy="457200"/>
          </a:xfrm>
          <a:prstGeom prst="rect">
            <a:avLst/>
          </a:prstGeom>
          <a:noFill/>
          <a:ln/>
        </p:spPr>
        <p:txBody>
          <a:bodyPr wrap="square" rtlCol="0" anchor="ctr"/>
          <a:lstStyle/>
          <a:p>
            <a:pPr marL="0" indent="0">
              <a:buNone/>
            </a:pPr>
            <a:r>
              <a:rPr lang="en-US" sz="900" b="1" dirty="0">
                <a:solidFill>
                  <a:srgbClr val="2563EB"/>
                </a:solidFill>
              </a:rPr>
              <a:t>Hybrid Blockchain AI (Solution)</a:t>
            </a:r>
            <a:endParaRPr lang="en-US" sz="900" dirty="0"/>
          </a:p>
        </p:txBody>
      </p:sp>
      <p:sp>
        <p:nvSpPr>
          <p:cNvPr id="9" name="Shape 7"/>
          <p:cNvSpPr/>
          <p:nvPr/>
        </p:nvSpPr>
        <p:spPr>
          <a:xfrm>
            <a:off x="228600" y="1508760"/>
            <a:ext cx="8686800" cy="841248"/>
          </a:xfrm>
          <a:prstGeom prst="rect">
            <a:avLst/>
          </a:prstGeom>
          <a:solidFill>
            <a:srgbClr val="FFFFFF"/>
          </a:solidFill>
          <a:ln w="12700">
            <a:solidFill>
              <a:srgbClr val="E2E8F0"/>
            </a:solidFill>
            <a:prstDash val="solid"/>
          </a:ln>
        </p:spPr>
      </p:sp>
      <p:sp>
        <p:nvSpPr>
          <p:cNvPr id="10" name="Text 8"/>
          <p:cNvSpPr/>
          <p:nvPr/>
        </p:nvSpPr>
        <p:spPr>
          <a:xfrm>
            <a:off x="365760" y="1554480"/>
            <a:ext cx="2011680" cy="749808"/>
          </a:xfrm>
          <a:prstGeom prst="rect">
            <a:avLst/>
          </a:prstGeom>
          <a:noFill/>
          <a:ln/>
        </p:spPr>
        <p:txBody>
          <a:bodyPr wrap="square" rtlCol="0" anchor="ctr"/>
          <a:lstStyle/>
          <a:p>
            <a:pPr marL="0" indent="0">
              <a:buNone/>
            </a:pPr>
            <a:r>
              <a:rPr lang="en-US" sz="950" b="1" dirty="0">
                <a:solidFill>
                  <a:srgbClr val="1E293B"/>
                </a:solidFill>
              </a:rPr>
              <a:t>Data Visibility</a:t>
            </a:r>
            <a:endParaRPr lang="en-US" sz="950" dirty="0"/>
          </a:p>
        </p:txBody>
      </p:sp>
      <p:sp>
        <p:nvSpPr>
          <p:cNvPr id="11" name="Text 9"/>
          <p:cNvSpPr/>
          <p:nvPr/>
        </p:nvSpPr>
        <p:spPr>
          <a:xfrm>
            <a:off x="2468880" y="1554480"/>
            <a:ext cx="2971800" cy="749808"/>
          </a:xfrm>
          <a:prstGeom prst="rect">
            <a:avLst/>
          </a:prstGeom>
          <a:noFill/>
          <a:ln/>
        </p:spPr>
        <p:txBody>
          <a:bodyPr wrap="square" rtlCol="0" anchor="ctr"/>
          <a:lstStyle/>
          <a:p>
            <a:pPr marL="0" indent="0">
              <a:buNone/>
            </a:pPr>
            <a:r>
              <a:rPr lang="en-US" sz="850" dirty="0">
                <a:solidFill>
                  <a:srgbClr val="64748B"/>
                </a:solidFill>
              </a:rPr>
              <a:t>Isolated silos: AI only sees internal bank data.</a:t>
            </a:r>
            <a:endParaRPr lang="en-US" sz="850" dirty="0"/>
          </a:p>
        </p:txBody>
      </p:sp>
      <p:sp>
        <p:nvSpPr>
          <p:cNvPr id="12" name="Text 10"/>
          <p:cNvSpPr/>
          <p:nvPr/>
        </p:nvSpPr>
        <p:spPr>
          <a:xfrm>
            <a:off x="5577840" y="1554480"/>
            <a:ext cx="3154680" cy="749808"/>
          </a:xfrm>
          <a:prstGeom prst="rect">
            <a:avLst/>
          </a:prstGeom>
          <a:noFill/>
          <a:ln/>
        </p:spPr>
        <p:txBody>
          <a:bodyPr wrap="square" rtlCol="0" anchor="ctr"/>
          <a:lstStyle/>
          <a:p>
            <a:pPr marL="0" indent="0">
              <a:buNone/>
            </a:pPr>
            <a:r>
              <a:rPr lang="en-US" sz="850" b="1" dirty="0">
                <a:solidFill>
                  <a:srgbClr val="1E293B"/>
                </a:solidFill>
              </a:rPr>
              <a:t>Shared blockchain ledger: global end-to-end visibility of all transactions.</a:t>
            </a:r>
            <a:endParaRPr lang="en-US" sz="850" dirty="0"/>
          </a:p>
        </p:txBody>
      </p:sp>
      <p:sp>
        <p:nvSpPr>
          <p:cNvPr id="13" name="Shape 11"/>
          <p:cNvSpPr/>
          <p:nvPr/>
        </p:nvSpPr>
        <p:spPr>
          <a:xfrm>
            <a:off x="228600" y="2423160"/>
            <a:ext cx="8686800" cy="841248"/>
          </a:xfrm>
          <a:prstGeom prst="rect">
            <a:avLst/>
          </a:prstGeom>
          <a:solidFill>
            <a:srgbClr val="F8FAFC"/>
          </a:solidFill>
          <a:ln w="12700">
            <a:solidFill>
              <a:srgbClr val="E2E8F0"/>
            </a:solidFill>
            <a:prstDash val="solid"/>
          </a:ln>
        </p:spPr>
      </p:sp>
      <p:sp>
        <p:nvSpPr>
          <p:cNvPr id="14" name="Text 12"/>
          <p:cNvSpPr/>
          <p:nvPr/>
        </p:nvSpPr>
        <p:spPr>
          <a:xfrm>
            <a:off x="365760" y="2468880"/>
            <a:ext cx="2011680" cy="749808"/>
          </a:xfrm>
          <a:prstGeom prst="rect">
            <a:avLst/>
          </a:prstGeom>
          <a:noFill/>
          <a:ln/>
        </p:spPr>
        <p:txBody>
          <a:bodyPr wrap="square" rtlCol="0" anchor="ctr"/>
          <a:lstStyle/>
          <a:p>
            <a:pPr marL="0" indent="0">
              <a:buNone/>
            </a:pPr>
            <a:r>
              <a:rPr lang="en-US" sz="950" b="1" dirty="0">
                <a:solidFill>
                  <a:srgbClr val="1E293B"/>
                </a:solidFill>
              </a:rPr>
              <a:t>How It Sees Data</a:t>
            </a:r>
            <a:endParaRPr lang="en-US" sz="950" dirty="0"/>
          </a:p>
        </p:txBody>
      </p:sp>
      <p:sp>
        <p:nvSpPr>
          <p:cNvPr id="15" name="Text 13"/>
          <p:cNvSpPr/>
          <p:nvPr/>
        </p:nvSpPr>
        <p:spPr>
          <a:xfrm>
            <a:off x="2468880" y="2468880"/>
            <a:ext cx="2971800" cy="749808"/>
          </a:xfrm>
          <a:prstGeom prst="rect">
            <a:avLst/>
          </a:prstGeom>
          <a:noFill/>
          <a:ln/>
        </p:spPr>
        <p:txBody>
          <a:bodyPr wrap="square" rtlCol="0" anchor="ctr"/>
          <a:lstStyle/>
          <a:p>
            <a:pPr marL="0" indent="0">
              <a:buNone/>
            </a:pPr>
            <a:r>
              <a:rPr lang="en-US" sz="850" dirty="0">
                <a:solidFill>
                  <a:srgbClr val="64748B"/>
                </a:solidFill>
              </a:rPr>
              <a:t>Tabular (flat rows): analyzes individual transactions separately.</a:t>
            </a:r>
            <a:endParaRPr lang="en-US" sz="850" dirty="0"/>
          </a:p>
        </p:txBody>
      </p:sp>
      <p:sp>
        <p:nvSpPr>
          <p:cNvPr id="16" name="Text 14"/>
          <p:cNvSpPr/>
          <p:nvPr/>
        </p:nvSpPr>
        <p:spPr>
          <a:xfrm>
            <a:off x="5577840" y="2468880"/>
            <a:ext cx="3154680" cy="749808"/>
          </a:xfrm>
          <a:prstGeom prst="rect">
            <a:avLst/>
          </a:prstGeom>
          <a:noFill/>
          <a:ln/>
        </p:spPr>
        <p:txBody>
          <a:bodyPr wrap="square" rtlCol="0" anchor="ctr"/>
          <a:lstStyle/>
          <a:p>
            <a:pPr marL="0" indent="0">
              <a:buNone/>
            </a:pPr>
            <a:r>
              <a:rPr lang="en-US" sz="850" b="1" dirty="0">
                <a:solidFill>
                  <a:srgbClr val="1E293B"/>
                </a:solidFill>
              </a:rPr>
              <a:t>Graph-based (networks): maps relationships between accounts and detects hidden fraud chains.</a:t>
            </a:r>
            <a:endParaRPr lang="en-US" sz="850" dirty="0"/>
          </a:p>
        </p:txBody>
      </p:sp>
      <p:sp>
        <p:nvSpPr>
          <p:cNvPr id="17" name="Shape 15"/>
          <p:cNvSpPr/>
          <p:nvPr/>
        </p:nvSpPr>
        <p:spPr>
          <a:xfrm>
            <a:off x="228600" y="3337560"/>
            <a:ext cx="8686800" cy="841248"/>
          </a:xfrm>
          <a:prstGeom prst="rect">
            <a:avLst/>
          </a:prstGeom>
          <a:solidFill>
            <a:srgbClr val="FFFFFF"/>
          </a:solidFill>
          <a:ln w="12700">
            <a:solidFill>
              <a:srgbClr val="E2E8F0"/>
            </a:solidFill>
            <a:prstDash val="solid"/>
          </a:ln>
        </p:spPr>
      </p:sp>
      <p:sp>
        <p:nvSpPr>
          <p:cNvPr id="18" name="Text 16"/>
          <p:cNvSpPr/>
          <p:nvPr/>
        </p:nvSpPr>
        <p:spPr>
          <a:xfrm>
            <a:off x="365760" y="3383280"/>
            <a:ext cx="2011680" cy="749808"/>
          </a:xfrm>
          <a:prstGeom prst="rect">
            <a:avLst/>
          </a:prstGeom>
          <a:noFill/>
          <a:ln/>
        </p:spPr>
        <p:txBody>
          <a:bodyPr wrap="square" rtlCol="0" anchor="ctr"/>
          <a:lstStyle/>
          <a:p>
            <a:pPr marL="0" indent="0">
              <a:buNone/>
            </a:pPr>
            <a:r>
              <a:rPr lang="en-US" sz="950" b="1" dirty="0">
                <a:solidFill>
                  <a:srgbClr val="1E293B"/>
                </a:solidFill>
              </a:rPr>
              <a:t>Data Sharing &amp; Privacy</a:t>
            </a:r>
            <a:endParaRPr lang="en-US" sz="950" dirty="0"/>
          </a:p>
        </p:txBody>
      </p:sp>
      <p:sp>
        <p:nvSpPr>
          <p:cNvPr id="19" name="Text 17"/>
          <p:cNvSpPr/>
          <p:nvPr/>
        </p:nvSpPr>
        <p:spPr>
          <a:xfrm>
            <a:off x="2468880" y="3383280"/>
            <a:ext cx="2971800" cy="749808"/>
          </a:xfrm>
          <a:prstGeom prst="rect">
            <a:avLst/>
          </a:prstGeom>
          <a:noFill/>
          <a:ln/>
        </p:spPr>
        <p:txBody>
          <a:bodyPr wrap="square" rtlCol="0" anchor="ctr"/>
          <a:lstStyle/>
          <a:p>
            <a:pPr marL="0" indent="0">
              <a:buNone/>
            </a:pPr>
            <a:r>
              <a:rPr lang="en-US" sz="850" dirty="0">
                <a:solidFill>
                  <a:srgbClr val="64748B"/>
                </a:solidFill>
              </a:rPr>
              <a:t>Restricted: banks cannot freely share data due to privacy laws.</a:t>
            </a:r>
            <a:endParaRPr lang="en-US" sz="850" dirty="0"/>
          </a:p>
        </p:txBody>
      </p:sp>
      <p:sp>
        <p:nvSpPr>
          <p:cNvPr id="20" name="Text 18"/>
          <p:cNvSpPr/>
          <p:nvPr/>
        </p:nvSpPr>
        <p:spPr>
          <a:xfrm>
            <a:off x="5577840" y="3383280"/>
            <a:ext cx="3154680" cy="749808"/>
          </a:xfrm>
          <a:prstGeom prst="rect">
            <a:avLst/>
          </a:prstGeom>
          <a:noFill/>
          <a:ln/>
        </p:spPr>
        <p:txBody>
          <a:bodyPr wrap="square" rtlCol="0" anchor="ctr"/>
          <a:lstStyle/>
          <a:p>
            <a:pPr marL="0" indent="0">
              <a:buNone/>
            </a:pPr>
            <a:r>
              <a:rPr lang="en-US" sz="850" b="1" dirty="0">
                <a:solidFill>
                  <a:srgbClr val="1E293B"/>
                </a:solidFill>
              </a:rPr>
              <a:t>Federated Learning: AI trains locally in each bank and shares only model updates, not raw data.</a:t>
            </a:r>
            <a:endParaRPr lang="en-US" sz="850" dirty="0"/>
          </a:p>
        </p:txBody>
      </p:sp>
      <p:sp>
        <p:nvSpPr>
          <p:cNvPr id="21" name="Shape 19"/>
          <p:cNvSpPr/>
          <p:nvPr/>
        </p:nvSpPr>
        <p:spPr>
          <a:xfrm>
            <a:off x="228600" y="4251960"/>
            <a:ext cx="8686800" cy="841248"/>
          </a:xfrm>
          <a:prstGeom prst="rect">
            <a:avLst/>
          </a:prstGeom>
          <a:solidFill>
            <a:srgbClr val="F8FAFC"/>
          </a:solidFill>
          <a:ln w="12700">
            <a:solidFill>
              <a:srgbClr val="E2E8F0"/>
            </a:solidFill>
            <a:prstDash val="solid"/>
          </a:ln>
        </p:spPr>
      </p:sp>
      <p:sp>
        <p:nvSpPr>
          <p:cNvPr id="22" name="Text 20"/>
          <p:cNvSpPr/>
          <p:nvPr/>
        </p:nvSpPr>
        <p:spPr>
          <a:xfrm>
            <a:off x="365760" y="4297680"/>
            <a:ext cx="2011680" cy="749808"/>
          </a:xfrm>
          <a:prstGeom prst="rect">
            <a:avLst/>
          </a:prstGeom>
          <a:noFill/>
          <a:ln/>
        </p:spPr>
        <p:txBody>
          <a:bodyPr wrap="square" rtlCol="0" anchor="ctr"/>
          <a:lstStyle/>
          <a:p>
            <a:pPr marL="0" indent="0">
              <a:buNone/>
            </a:pPr>
            <a:r>
              <a:rPr lang="en-US" sz="950" b="1" dirty="0">
                <a:solidFill>
                  <a:srgbClr val="1E293B"/>
                </a:solidFill>
              </a:rPr>
              <a:t>Reaction Speed</a:t>
            </a:r>
            <a:endParaRPr lang="en-US" sz="950" dirty="0"/>
          </a:p>
        </p:txBody>
      </p:sp>
      <p:sp>
        <p:nvSpPr>
          <p:cNvPr id="23" name="Text 21"/>
          <p:cNvSpPr/>
          <p:nvPr/>
        </p:nvSpPr>
        <p:spPr>
          <a:xfrm>
            <a:off x="2468880" y="4297680"/>
            <a:ext cx="2971800" cy="749808"/>
          </a:xfrm>
          <a:prstGeom prst="rect">
            <a:avLst/>
          </a:prstGeom>
          <a:noFill/>
          <a:ln/>
        </p:spPr>
        <p:txBody>
          <a:bodyPr wrap="square" rtlCol="0" anchor="ctr"/>
          <a:lstStyle/>
          <a:p>
            <a:pPr marL="0" indent="0">
              <a:buNone/>
            </a:pPr>
            <a:r>
              <a:rPr lang="en-US" sz="850" dirty="0">
                <a:solidFill>
                  <a:srgbClr val="64748B"/>
                </a:solidFill>
              </a:rPr>
              <a:t>Post-transaction: detection happens after money has moved.</a:t>
            </a:r>
            <a:endParaRPr lang="en-US" sz="850" dirty="0"/>
          </a:p>
        </p:txBody>
      </p:sp>
      <p:sp>
        <p:nvSpPr>
          <p:cNvPr id="24" name="Text 22"/>
          <p:cNvSpPr/>
          <p:nvPr/>
        </p:nvSpPr>
        <p:spPr>
          <a:xfrm>
            <a:off x="5577840" y="4297680"/>
            <a:ext cx="3154680" cy="749808"/>
          </a:xfrm>
          <a:prstGeom prst="rect">
            <a:avLst/>
          </a:prstGeom>
          <a:noFill/>
          <a:ln/>
        </p:spPr>
        <p:txBody>
          <a:bodyPr wrap="square" rtlCol="0" anchor="ctr"/>
          <a:lstStyle/>
          <a:p>
            <a:pPr marL="0" indent="0">
              <a:buNone/>
            </a:pPr>
            <a:r>
              <a:rPr lang="en-US" sz="850" b="1" dirty="0">
                <a:solidFill>
                  <a:srgbClr val="1E293B"/>
                </a:solidFill>
              </a:rPr>
              <a:t>Real-time: smart contracts + AI flag or block suspicious transactions instantly.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DC2626"/>
          </a:solidFill>
          <a:ln/>
        </p:spPr>
      </p:sp>
      <p:sp>
        <p:nvSpPr>
          <p:cNvPr id="3" name="Text 1"/>
          <p:cNvSpPr/>
          <p:nvPr/>
        </p:nvSpPr>
        <p:spPr>
          <a:xfrm>
            <a:off x="228600" y="182880"/>
            <a:ext cx="3657600" cy="201168"/>
          </a:xfrm>
          <a:prstGeom prst="rect">
            <a:avLst/>
          </a:prstGeom>
          <a:noFill/>
          <a:ln/>
        </p:spPr>
        <p:txBody>
          <a:bodyPr wrap="square" rtlCol="0" anchor="ctr"/>
          <a:lstStyle/>
          <a:p>
            <a:pPr marL="0" indent="0">
              <a:buNone/>
            </a:pPr>
            <a:r>
              <a:rPr lang="en-US" sz="800" b="1" kern="0" spc="200" dirty="0">
                <a:solidFill>
                  <a:srgbClr val="DC2626"/>
                </a:solidFill>
              </a:rPr>
              <a:t>SECURITY ATTACK</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1900" b="1" dirty="0">
                <a:solidFill>
                  <a:srgbClr val="1E293B"/>
                </a:solidFill>
              </a:rPr>
              <a:t>Attack Handling, Fraud Scenarios &amp; System Benefits</a:t>
            </a:r>
            <a:endParaRPr lang="en-US" sz="1900" dirty="0"/>
          </a:p>
        </p:txBody>
      </p:sp>
      <p:sp>
        <p:nvSpPr>
          <p:cNvPr id="5" name="Shape 3"/>
          <p:cNvSpPr/>
          <p:nvPr/>
        </p:nvSpPr>
        <p:spPr>
          <a:xfrm>
            <a:off x="228600" y="1051560"/>
            <a:ext cx="4160520" cy="3840480"/>
          </a:xfrm>
          <a:prstGeom prst="rect">
            <a:avLst/>
          </a:prstGeom>
          <a:solidFill>
            <a:srgbClr val="FFFFFF"/>
          </a:solidFill>
          <a:ln w="12700">
            <a:solidFill>
              <a:srgbClr val="E2E8F0"/>
            </a:solidFill>
            <a:prstDash val="solid"/>
          </a:ln>
        </p:spPr>
      </p:sp>
      <p:sp>
        <p:nvSpPr>
          <p:cNvPr id="6" name="Text 4"/>
          <p:cNvSpPr/>
          <p:nvPr/>
        </p:nvSpPr>
        <p:spPr>
          <a:xfrm>
            <a:off x="411480" y="1188720"/>
            <a:ext cx="3794760" cy="256032"/>
          </a:xfrm>
          <a:prstGeom prst="rect">
            <a:avLst/>
          </a:prstGeom>
          <a:noFill/>
          <a:ln/>
        </p:spPr>
        <p:txBody>
          <a:bodyPr wrap="square" rtlCol="0" anchor="ctr"/>
          <a:lstStyle/>
          <a:p>
            <a:pPr marL="0" indent="0">
              <a:buNone/>
            </a:pPr>
            <a:r>
              <a:rPr lang="en-US" sz="900" b="1" kern="0" spc="100" dirty="0">
                <a:solidFill>
                  <a:srgbClr val="DC2626"/>
                </a:solidFill>
              </a:rPr>
              <a:t>ACTIVE THREAT HANDLING</a:t>
            </a:r>
            <a:endParaRPr lang="en-US" sz="900" dirty="0"/>
          </a:p>
        </p:txBody>
      </p:sp>
      <p:sp>
        <p:nvSpPr>
          <p:cNvPr id="7" name="Text 5"/>
          <p:cNvSpPr/>
          <p:nvPr/>
        </p:nvSpPr>
        <p:spPr>
          <a:xfrm>
            <a:off x="411480" y="1508760"/>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Data Tampering Prevention: </a:t>
            </a:r>
            <a:r>
              <a:rPr lang="en-US" sz="850" dirty="0">
                <a:solidFill>
                  <a:srgbClr val="64748B"/>
                </a:solidFill>
              </a:rPr>
              <a:t>Blockchain's immutable ledger prevents modification or deletion of recorded transactions.</a:t>
            </a:r>
            <a:endParaRPr lang="en-US" sz="850" dirty="0"/>
          </a:p>
        </p:txBody>
      </p:sp>
      <p:sp>
        <p:nvSpPr>
          <p:cNvPr id="8" name="Text 6"/>
          <p:cNvSpPr/>
          <p:nvPr/>
        </p:nvSpPr>
        <p:spPr>
          <a:xfrm>
            <a:off x="411480" y="1975104"/>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Fraud Transaction Blocking: </a:t>
            </a:r>
            <a:r>
              <a:rPr lang="en-US" sz="850" dirty="0">
                <a:solidFill>
                  <a:srgbClr val="64748B"/>
                </a:solidFill>
              </a:rPr>
              <a:t>Smart contracts automatically block transactions that violate AML rules in real-time.</a:t>
            </a:r>
            <a:endParaRPr lang="en-US" sz="850" dirty="0"/>
          </a:p>
        </p:txBody>
      </p:sp>
      <p:sp>
        <p:nvSpPr>
          <p:cNvPr id="9" name="Text 7"/>
          <p:cNvSpPr/>
          <p:nvPr/>
        </p:nvSpPr>
        <p:spPr>
          <a:xfrm>
            <a:off x="411480" y="2441448"/>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Suspicious Activity Detection: </a:t>
            </a:r>
            <a:r>
              <a:rPr lang="en-US" sz="850" dirty="0">
                <a:solidFill>
                  <a:srgbClr val="64748B"/>
                </a:solidFill>
              </a:rPr>
              <a:t>AI/ML models detect abnormal patterns such as layering, structuring, and rapid transfers.</a:t>
            </a:r>
            <a:endParaRPr lang="en-US" sz="850" dirty="0"/>
          </a:p>
        </p:txBody>
      </p:sp>
      <p:sp>
        <p:nvSpPr>
          <p:cNvPr id="10" name="Text 8"/>
          <p:cNvSpPr/>
          <p:nvPr/>
        </p:nvSpPr>
        <p:spPr>
          <a:xfrm>
            <a:off x="411480" y="2907792"/>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Unauthorized Access Control: </a:t>
            </a:r>
            <a:r>
              <a:rPr lang="en-US" sz="850" dirty="0">
                <a:solidFill>
                  <a:srgbClr val="64748B"/>
                </a:solidFill>
              </a:rPr>
              <a:t>Permissioned blockchain ensures only verified banks and regulators can participate.</a:t>
            </a:r>
            <a:endParaRPr lang="en-US" sz="850" dirty="0"/>
          </a:p>
        </p:txBody>
      </p:sp>
      <p:sp>
        <p:nvSpPr>
          <p:cNvPr id="11" name="Text 9"/>
          <p:cNvSpPr/>
          <p:nvPr/>
        </p:nvSpPr>
        <p:spPr>
          <a:xfrm>
            <a:off x="411480" y="3374136"/>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Real-Time Alert System: </a:t>
            </a:r>
            <a:r>
              <a:rPr lang="en-US" sz="850" dirty="0">
                <a:solidFill>
                  <a:srgbClr val="64748B"/>
                </a:solidFill>
              </a:rPr>
              <a:t>High-risk transactions trigger instant alerts to compliance teams and regulators.</a:t>
            </a:r>
            <a:endParaRPr lang="en-US" sz="850" dirty="0"/>
          </a:p>
        </p:txBody>
      </p:sp>
      <p:sp>
        <p:nvSpPr>
          <p:cNvPr id="12" name="Text 10"/>
          <p:cNvSpPr/>
          <p:nvPr/>
        </p:nvSpPr>
        <p:spPr>
          <a:xfrm>
            <a:off x="411480" y="3840480"/>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Double-Spending Protection: </a:t>
            </a:r>
            <a:r>
              <a:rPr lang="en-US" sz="850" dirty="0">
                <a:solidFill>
                  <a:srgbClr val="64748B"/>
                </a:solidFill>
              </a:rPr>
              <a:t>Consensus mechanisms ensure no duplicate or fake entries can be added.</a:t>
            </a:r>
            <a:endParaRPr lang="en-US" sz="850" dirty="0"/>
          </a:p>
        </p:txBody>
      </p:sp>
      <p:sp>
        <p:nvSpPr>
          <p:cNvPr id="13" name="Text 11"/>
          <p:cNvSpPr/>
          <p:nvPr/>
        </p:nvSpPr>
        <p:spPr>
          <a:xfrm>
            <a:off x="411480" y="4306824"/>
            <a:ext cx="3794760" cy="438912"/>
          </a:xfrm>
          <a:prstGeom prst="rect">
            <a:avLst/>
          </a:prstGeom>
          <a:noFill/>
          <a:ln/>
        </p:spPr>
        <p:txBody>
          <a:bodyPr wrap="square" rtlCol="0" anchor="ctr"/>
          <a:lstStyle/>
          <a:p>
            <a:pPr marL="342900" indent="-342900">
              <a:buSzPct val="100000"/>
              <a:buChar char="•"/>
            </a:pPr>
            <a:r>
              <a:rPr lang="en-US" sz="850" b="1" dirty="0">
                <a:solidFill>
                  <a:srgbClr val="1E293B"/>
                </a:solidFill>
              </a:rPr>
              <a:t>Audit &amp; Traceability Protection: </a:t>
            </a:r>
            <a:r>
              <a:rPr lang="en-US" sz="850" dirty="0">
                <a:solidFill>
                  <a:srgbClr val="64748B"/>
                </a:solidFill>
              </a:rPr>
              <a:t>Every transaction is permanently traceable, supporting forensic investigation.</a:t>
            </a:r>
            <a:endParaRPr lang="en-US" sz="850" dirty="0"/>
          </a:p>
        </p:txBody>
      </p:sp>
      <p:sp>
        <p:nvSpPr>
          <p:cNvPr id="14" name="Shape 12"/>
          <p:cNvSpPr/>
          <p:nvPr/>
        </p:nvSpPr>
        <p:spPr>
          <a:xfrm>
            <a:off x="4663440" y="1051560"/>
            <a:ext cx="4251960" cy="3840480"/>
          </a:xfrm>
          <a:prstGeom prst="rect">
            <a:avLst/>
          </a:prstGeom>
          <a:solidFill>
            <a:srgbClr val="FFFFFF"/>
          </a:solidFill>
          <a:ln w="12700">
            <a:solidFill>
              <a:srgbClr val="E2E8F0"/>
            </a:solidFill>
            <a:prstDash val="solid"/>
          </a:ln>
        </p:spPr>
      </p:sp>
      <p:sp>
        <p:nvSpPr>
          <p:cNvPr id="15" name="Text 13"/>
          <p:cNvSpPr/>
          <p:nvPr/>
        </p:nvSpPr>
        <p:spPr>
          <a:xfrm>
            <a:off x="4846320" y="1188720"/>
            <a:ext cx="3886200" cy="256032"/>
          </a:xfrm>
          <a:prstGeom prst="rect">
            <a:avLst/>
          </a:prstGeom>
          <a:noFill/>
          <a:ln/>
        </p:spPr>
        <p:txBody>
          <a:bodyPr wrap="square" rtlCol="0" anchor="ctr"/>
          <a:lstStyle/>
          <a:p>
            <a:pPr marL="0" indent="0">
              <a:buNone/>
            </a:pPr>
            <a:r>
              <a:rPr lang="en-US" sz="900" b="1" kern="0" spc="100" dirty="0">
                <a:solidFill>
                  <a:srgbClr val="10B981"/>
                </a:solidFill>
              </a:rPr>
              <a:t>SYSTEM BENEFITS</a:t>
            </a:r>
            <a:endParaRPr lang="en-US" sz="900" dirty="0"/>
          </a:p>
        </p:txBody>
      </p:sp>
      <p:sp>
        <p:nvSpPr>
          <p:cNvPr id="16" name="Text 14"/>
          <p:cNvSpPr/>
          <p:nvPr/>
        </p:nvSpPr>
        <p:spPr>
          <a:xfrm>
            <a:off x="4846320" y="150876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Enables real-time monitoring of financial transactions across banks.</a:t>
            </a:r>
            <a:endParaRPr lang="en-US" sz="850" dirty="0"/>
          </a:p>
        </p:txBody>
      </p:sp>
      <p:sp>
        <p:nvSpPr>
          <p:cNvPr id="17" name="Text 15"/>
          <p:cNvSpPr/>
          <p:nvPr/>
        </p:nvSpPr>
        <p:spPr>
          <a:xfrm>
            <a:off x="4846320" y="192024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Improves transparency and end-to-end traceability of money flow.</a:t>
            </a:r>
            <a:endParaRPr lang="en-US" sz="850" dirty="0"/>
          </a:p>
        </p:txBody>
      </p:sp>
      <p:sp>
        <p:nvSpPr>
          <p:cNvPr id="18" name="Text 16"/>
          <p:cNvSpPr/>
          <p:nvPr/>
        </p:nvSpPr>
        <p:spPr>
          <a:xfrm>
            <a:off x="4846320" y="233172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Reduces risk of fraud and money laundering activities.</a:t>
            </a:r>
            <a:endParaRPr lang="en-US" sz="850" dirty="0"/>
          </a:p>
        </p:txBody>
      </p:sp>
      <p:sp>
        <p:nvSpPr>
          <p:cNvPr id="19" name="Text 17"/>
          <p:cNvSpPr/>
          <p:nvPr/>
        </p:nvSpPr>
        <p:spPr>
          <a:xfrm>
            <a:off x="4846320" y="274320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Provides a shared ledger across multiple banks and regulators.</a:t>
            </a:r>
            <a:endParaRPr lang="en-US" sz="850" dirty="0"/>
          </a:p>
        </p:txBody>
      </p:sp>
      <p:sp>
        <p:nvSpPr>
          <p:cNvPr id="20" name="Text 18"/>
          <p:cNvSpPr/>
          <p:nvPr/>
        </p:nvSpPr>
        <p:spPr>
          <a:xfrm>
            <a:off x="4846320" y="315468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Enhances auditability and compliance reporting accuracy.</a:t>
            </a:r>
            <a:endParaRPr lang="en-US" sz="850" dirty="0"/>
          </a:p>
        </p:txBody>
      </p:sp>
      <p:sp>
        <p:nvSpPr>
          <p:cNvPr id="21" name="Text 19"/>
          <p:cNvSpPr/>
          <p:nvPr/>
        </p:nvSpPr>
        <p:spPr>
          <a:xfrm>
            <a:off x="4846320" y="356616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Reduces dependency on manual and delayed investigations.</a:t>
            </a:r>
            <a:endParaRPr lang="en-US" sz="850" dirty="0"/>
          </a:p>
        </p:txBody>
      </p:sp>
      <p:sp>
        <p:nvSpPr>
          <p:cNvPr id="22" name="Text 20"/>
          <p:cNvSpPr/>
          <p:nvPr/>
        </p:nvSpPr>
        <p:spPr>
          <a:xfrm>
            <a:off x="4846320" y="397764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Supports faster detection of suspicious transactions.</a:t>
            </a:r>
            <a:endParaRPr lang="en-US" sz="850" dirty="0"/>
          </a:p>
        </p:txBody>
      </p:sp>
      <p:sp>
        <p:nvSpPr>
          <p:cNvPr id="23" name="Text 21"/>
          <p:cNvSpPr/>
          <p:nvPr/>
        </p:nvSpPr>
        <p:spPr>
          <a:xfrm>
            <a:off x="4846320" y="4389120"/>
            <a:ext cx="3886200" cy="384048"/>
          </a:xfrm>
          <a:prstGeom prst="rect">
            <a:avLst/>
          </a:prstGeom>
          <a:noFill/>
          <a:ln/>
        </p:spPr>
        <p:txBody>
          <a:bodyPr wrap="square" rtlCol="0" anchor="ctr"/>
          <a:lstStyle/>
          <a:p>
            <a:pPr marL="342900" indent="-342900">
              <a:buSzPct val="100000"/>
              <a:buChar char="•"/>
            </a:pPr>
            <a:r>
              <a:rPr lang="en-US" sz="850" dirty="0">
                <a:solidFill>
                  <a:srgbClr val="64748B"/>
                </a:solidFill>
              </a:rPr>
              <a:t>Strengthens overall financial system security and trust.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EB"/>
          </a:solidFill>
          <a:ln/>
        </p:spPr>
      </p:sp>
      <p:sp>
        <p:nvSpPr>
          <p:cNvPr id="3" name="Text 1"/>
          <p:cNvSpPr/>
          <p:nvPr/>
        </p:nvSpPr>
        <p:spPr>
          <a:xfrm>
            <a:off x="228600" y="182880"/>
            <a:ext cx="2743200" cy="201168"/>
          </a:xfrm>
          <a:prstGeom prst="rect">
            <a:avLst/>
          </a:prstGeom>
          <a:noFill/>
          <a:ln/>
        </p:spPr>
        <p:txBody>
          <a:bodyPr wrap="square" rtlCol="0" anchor="ctr"/>
          <a:lstStyle/>
          <a:p>
            <a:pPr marL="0" indent="0">
              <a:buNone/>
            </a:pPr>
            <a:r>
              <a:rPr lang="en-US" sz="800" b="1" kern="0" spc="200" dirty="0">
                <a:solidFill>
                  <a:srgbClr val="7DD3FC"/>
                </a:solidFill>
              </a:rPr>
              <a:t>SYNTHESIS</a:t>
            </a:r>
            <a:endParaRPr lang="en-US" sz="800" dirty="0"/>
          </a:p>
        </p:txBody>
      </p:sp>
      <p:sp>
        <p:nvSpPr>
          <p:cNvPr id="4" name="Text 2"/>
          <p:cNvSpPr/>
          <p:nvPr/>
        </p:nvSpPr>
        <p:spPr>
          <a:xfrm>
            <a:off x="228600" y="411480"/>
            <a:ext cx="8686800" cy="502920"/>
          </a:xfrm>
          <a:prstGeom prst="rect">
            <a:avLst/>
          </a:prstGeom>
          <a:noFill/>
          <a:ln/>
        </p:spPr>
        <p:txBody>
          <a:bodyPr wrap="square" rtlCol="0" anchor="ctr"/>
          <a:lstStyle/>
          <a:p>
            <a:pPr marL="0" indent="0">
              <a:buNone/>
            </a:pPr>
            <a:r>
              <a:rPr lang="en-US" sz="2600" b="1" dirty="0">
                <a:solidFill>
                  <a:srgbClr val="FFFFFF"/>
                </a:solidFill>
              </a:rPr>
              <a:t>Limitations &amp; Conclusion</a:t>
            </a:r>
            <a:endParaRPr lang="en-US" sz="2600" dirty="0"/>
          </a:p>
        </p:txBody>
      </p:sp>
      <p:sp>
        <p:nvSpPr>
          <p:cNvPr id="5" name="Shape 3"/>
          <p:cNvSpPr/>
          <p:nvPr/>
        </p:nvSpPr>
        <p:spPr>
          <a:xfrm>
            <a:off x="228600" y="1051560"/>
            <a:ext cx="4160520" cy="3657600"/>
          </a:xfrm>
          <a:prstGeom prst="rect">
            <a:avLst/>
          </a:prstGeom>
          <a:solidFill>
            <a:srgbClr val="182140"/>
          </a:solidFill>
          <a:ln w="19050">
            <a:solidFill>
              <a:srgbClr val="DC2626"/>
            </a:solidFill>
            <a:prstDash val="solid"/>
          </a:ln>
        </p:spPr>
      </p:sp>
      <p:sp>
        <p:nvSpPr>
          <p:cNvPr id="6" name="Text 4"/>
          <p:cNvSpPr/>
          <p:nvPr/>
        </p:nvSpPr>
        <p:spPr>
          <a:xfrm>
            <a:off x="411480" y="1188720"/>
            <a:ext cx="3794760" cy="256032"/>
          </a:xfrm>
          <a:prstGeom prst="rect">
            <a:avLst/>
          </a:prstGeom>
          <a:noFill/>
          <a:ln/>
        </p:spPr>
        <p:txBody>
          <a:bodyPr wrap="square" rtlCol="0" anchor="ctr"/>
          <a:lstStyle/>
          <a:p>
            <a:pPr marL="0" indent="0">
              <a:buNone/>
            </a:pPr>
            <a:r>
              <a:rPr lang="en-US" sz="900" b="1" kern="0" spc="100" dirty="0">
                <a:solidFill>
                  <a:srgbClr val="DC2626"/>
                </a:solidFill>
              </a:rPr>
              <a:t>SYSTEM LIMITATIONS</a:t>
            </a:r>
            <a:endParaRPr lang="en-US" sz="900" dirty="0"/>
          </a:p>
        </p:txBody>
      </p:sp>
      <p:sp>
        <p:nvSpPr>
          <p:cNvPr id="7" name="Text 5"/>
          <p:cNvSpPr/>
          <p:nvPr/>
        </p:nvSpPr>
        <p:spPr>
          <a:xfrm>
            <a:off x="411480" y="1508760"/>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Blockchain alone cannot perform intelligent fraud detection.</a:t>
            </a:r>
            <a:endParaRPr lang="en-US" sz="850" dirty="0"/>
          </a:p>
        </p:txBody>
      </p:sp>
      <p:sp>
        <p:nvSpPr>
          <p:cNvPr id="8" name="Text 6"/>
          <p:cNvSpPr/>
          <p:nvPr/>
        </p:nvSpPr>
        <p:spPr>
          <a:xfrm>
            <a:off x="411480" y="1892808"/>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Requires integration with AI/ML systems for full effectiveness.</a:t>
            </a:r>
            <a:endParaRPr lang="en-US" sz="850" dirty="0"/>
          </a:p>
        </p:txBody>
      </p:sp>
      <p:sp>
        <p:nvSpPr>
          <p:cNvPr id="9" name="Text 7"/>
          <p:cNvSpPr/>
          <p:nvPr/>
        </p:nvSpPr>
        <p:spPr>
          <a:xfrm>
            <a:off x="411480" y="2276856"/>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Privacy and regulatory challenges in data sharing between institutions.</a:t>
            </a:r>
            <a:endParaRPr lang="en-US" sz="850" dirty="0"/>
          </a:p>
        </p:txBody>
      </p:sp>
      <p:sp>
        <p:nvSpPr>
          <p:cNvPr id="10" name="Text 8"/>
          <p:cNvSpPr/>
          <p:nvPr/>
        </p:nvSpPr>
        <p:spPr>
          <a:xfrm>
            <a:off x="411480" y="2660904"/>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High implementation and infrastructure cost.</a:t>
            </a:r>
            <a:endParaRPr lang="en-US" sz="850" dirty="0"/>
          </a:p>
        </p:txBody>
      </p:sp>
      <p:sp>
        <p:nvSpPr>
          <p:cNvPr id="11" name="Text 9"/>
          <p:cNvSpPr/>
          <p:nvPr/>
        </p:nvSpPr>
        <p:spPr>
          <a:xfrm>
            <a:off x="411480" y="3044952"/>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Scalability issues in handling very high transaction volumes.</a:t>
            </a:r>
            <a:endParaRPr lang="en-US" sz="850" dirty="0"/>
          </a:p>
        </p:txBody>
      </p:sp>
      <p:sp>
        <p:nvSpPr>
          <p:cNvPr id="12" name="Text 10"/>
          <p:cNvSpPr/>
          <p:nvPr/>
        </p:nvSpPr>
        <p:spPr>
          <a:xfrm>
            <a:off x="411480" y="3429000"/>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Requires global cooperation and standardization, which is difficult.</a:t>
            </a:r>
            <a:endParaRPr lang="en-US" sz="850" dirty="0"/>
          </a:p>
        </p:txBody>
      </p:sp>
      <p:sp>
        <p:nvSpPr>
          <p:cNvPr id="13" name="Text 11"/>
          <p:cNvSpPr/>
          <p:nvPr/>
        </p:nvSpPr>
        <p:spPr>
          <a:xfrm>
            <a:off x="411480" y="3813048"/>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Still in pilot/research stage, not fully adopted worldwide.</a:t>
            </a:r>
            <a:endParaRPr lang="en-US" sz="850" dirty="0"/>
          </a:p>
        </p:txBody>
      </p:sp>
      <p:sp>
        <p:nvSpPr>
          <p:cNvPr id="14" name="Text 12"/>
          <p:cNvSpPr/>
          <p:nvPr/>
        </p:nvSpPr>
        <p:spPr>
          <a:xfrm>
            <a:off x="411480" y="4197096"/>
            <a:ext cx="3794760" cy="365760"/>
          </a:xfrm>
          <a:prstGeom prst="rect">
            <a:avLst/>
          </a:prstGeom>
          <a:noFill/>
          <a:ln/>
        </p:spPr>
        <p:txBody>
          <a:bodyPr wrap="square" rtlCol="0" anchor="ctr"/>
          <a:lstStyle/>
          <a:p>
            <a:pPr marL="342900" indent="-342900">
              <a:buSzPct val="100000"/>
              <a:buChar char="•"/>
            </a:pPr>
            <a:r>
              <a:rPr lang="en-US" sz="850" dirty="0">
                <a:solidFill>
                  <a:srgbClr val="94A3B8"/>
                </a:solidFill>
              </a:rPr>
              <a:t>Federated Learning: allows AI training without sharing sensitive bank data.</a:t>
            </a:r>
            <a:endParaRPr lang="en-US" sz="850" dirty="0"/>
          </a:p>
        </p:txBody>
      </p:sp>
      <p:sp>
        <p:nvSpPr>
          <p:cNvPr id="15" name="Shape 13"/>
          <p:cNvSpPr/>
          <p:nvPr/>
        </p:nvSpPr>
        <p:spPr>
          <a:xfrm>
            <a:off x="4663440" y="1051560"/>
            <a:ext cx="4251960" cy="3657600"/>
          </a:xfrm>
          <a:prstGeom prst="rect">
            <a:avLst/>
          </a:prstGeom>
          <a:solidFill>
            <a:srgbClr val="182140"/>
          </a:solidFill>
          <a:ln w="19050">
            <a:solidFill>
              <a:srgbClr val="2563EB"/>
            </a:solidFill>
            <a:prstDash val="solid"/>
          </a:ln>
        </p:spPr>
      </p:sp>
      <p:sp>
        <p:nvSpPr>
          <p:cNvPr id="16" name="Text 14"/>
          <p:cNvSpPr/>
          <p:nvPr/>
        </p:nvSpPr>
        <p:spPr>
          <a:xfrm>
            <a:off x="4846320" y="1188720"/>
            <a:ext cx="3886200" cy="256032"/>
          </a:xfrm>
          <a:prstGeom prst="rect">
            <a:avLst/>
          </a:prstGeom>
          <a:noFill/>
          <a:ln/>
        </p:spPr>
        <p:txBody>
          <a:bodyPr wrap="square" rtlCol="0" anchor="ctr"/>
          <a:lstStyle/>
          <a:p>
            <a:pPr marL="0" indent="0">
              <a:buNone/>
            </a:pPr>
            <a:r>
              <a:rPr lang="en-US" sz="900" b="1" kern="0" spc="100" dirty="0">
                <a:solidFill>
                  <a:srgbClr val="2563EB"/>
                </a:solidFill>
              </a:rPr>
              <a:t>CONCLUSION</a:t>
            </a:r>
            <a:endParaRPr lang="en-US" sz="900" dirty="0"/>
          </a:p>
        </p:txBody>
      </p:sp>
      <p:sp>
        <p:nvSpPr>
          <p:cNvPr id="17" name="Text 15"/>
          <p:cNvSpPr/>
          <p:nvPr/>
        </p:nvSpPr>
        <p:spPr>
          <a:xfrm>
            <a:off x="4846320" y="1508760"/>
            <a:ext cx="3886200" cy="1005840"/>
          </a:xfrm>
          <a:prstGeom prst="rect">
            <a:avLst/>
          </a:prstGeom>
          <a:noFill/>
          <a:ln/>
        </p:spPr>
        <p:txBody>
          <a:bodyPr wrap="square" rtlCol="0" anchor="ctr"/>
          <a:lstStyle/>
          <a:p>
            <a:pPr marL="0" indent="0">
              <a:buNone/>
            </a:pPr>
            <a:r>
              <a:rPr lang="en-US" sz="950" dirty="0">
                <a:solidFill>
                  <a:srgbClr val="94A3B8"/>
                </a:solidFill>
              </a:rPr>
              <a:t>Blockchain-based AML/CFT systems improve transparency, traceability, and real-time monitoring of financial transactions. However, to effectively detect evolving financial crimes, blockchain must be combined with AI/ML techniques.</a:t>
            </a:r>
            <a:endParaRPr lang="en-US" sz="950" dirty="0"/>
          </a:p>
        </p:txBody>
      </p:sp>
      <p:sp>
        <p:nvSpPr>
          <p:cNvPr id="18" name="Shape 16"/>
          <p:cNvSpPr/>
          <p:nvPr/>
        </p:nvSpPr>
        <p:spPr>
          <a:xfrm>
            <a:off x="4846320" y="2697480"/>
            <a:ext cx="3703320" cy="1371600"/>
          </a:xfrm>
          <a:prstGeom prst="rect">
            <a:avLst/>
          </a:prstGeom>
          <a:solidFill>
            <a:srgbClr val="1E3A5F"/>
          </a:solidFill>
          <a:ln w="12700">
            <a:solidFill>
              <a:srgbClr val="3B82F6"/>
            </a:solidFill>
            <a:prstDash val="solid"/>
          </a:ln>
        </p:spPr>
      </p:sp>
      <p:sp>
        <p:nvSpPr>
          <p:cNvPr id="19" name="Text 17"/>
          <p:cNvSpPr/>
          <p:nvPr/>
        </p:nvSpPr>
        <p:spPr>
          <a:xfrm>
            <a:off x="4983480" y="2743200"/>
            <a:ext cx="3429000" cy="1280160"/>
          </a:xfrm>
          <a:prstGeom prst="rect">
            <a:avLst/>
          </a:prstGeom>
          <a:noFill/>
          <a:ln/>
        </p:spPr>
        <p:txBody>
          <a:bodyPr wrap="square" rtlCol="0" anchor="ctr"/>
          <a:lstStyle/>
          <a:p>
            <a:pPr marL="0" indent="0">
              <a:buNone/>
            </a:pPr>
            <a:r>
              <a:rPr lang="en-US" sz="1000" i="1" dirty="0">
                <a:solidFill>
                  <a:srgbClr val="93C5FD"/>
                </a:solidFill>
              </a:rPr>
              <a:t>"This hybrid approach can significantly enhance the efficiency and reliability of global financial crime detection systems."</a:t>
            </a:r>
            <a:endParaRPr lang="en-US" sz="1000" dirty="0"/>
          </a:p>
        </p:txBody>
      </p:sp>
      <p:sp>
        <p:nvSpPr>
          <p:cNvPr id="20" name="Text 18"/>
          <p:cNvSpPr/>
          <p:nvPr/>
        </p:nvSpPr>
        <p:spPr>
          <a:xfrm>
            <a:off x="1252330" y="3188075"/>
            <a:ext cx="8686800" cy="201168"/>
          </a:xfrm>
          <a:prstGeom prst="rect">
            <a:avLst/>
          </a:prstGeom>
          <a:noFill/>
          <a:ln/>
        </p:spPr>
        <p:txBody>
          <a:bodyPr wrap="square" rtlCol="0" anchor="ctr"/>
          <a:lstStyle/>
          <a:p>
            <a:pPr marL="0" indent="0" algn="ctr">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2038</Words>
  <Application>Microsoft Office PowerPoint</Application>
  <PresentationFormat>On-screen Show (16:9)</PresentationFormat>
  <Paragraphs>303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AML/CFT Monitoring System</dc:title>
  <dc:subject>PptxGenJS Presentation</dc:subject>
  <dc:creator>PptxGenJS</dc:creator>
  <cp:lastModifiedBy>User</cp:lastModifiedBy>
  <cp:revision>5</cp:revision>
  <dcterms:created xsi:type="dcterms:W3CDTF">2026-06-02T04:41:00Z</dcterms:created>
  <dcterms:modified xsi:type="dcterms:W3CDTF">2026-06-03T07:20:09Z</dcterms:modified>
</cp:coreProperties>
</file>